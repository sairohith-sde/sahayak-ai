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7" d="100"/>
          <a:sy n="117" d="100"/>
        </p:scale>
        <p:origin x="46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5583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I'm going to tell you about 980,000 people who hold India's rural health system together — and the one thing they've never had: a tool that actually helps them instead of adding more 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ANM workers covering 150,000 people. The norm is 15. They have no system to tell them who is in danger today. Poshan Tracker, eSanjeevani — these tools require manual form-filling in English after every visit. They digitized the old broken process. We replace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Rani is not a fictional character. She represents the reality of 980,000 workers. The zero on the right is the most important number on this slide — zero tools that tell her who needs her first today. Until now.</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worker speaks naturally in Telugu or Hindi — the same way she'd describe a visit to a colleague. In under 10 seconds: the AI extracts structured data, scores the risk, generates a formal English report, and if it's Critical — alerts the supervisor automatically. No forms. No typing. No English required.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black box. Every single decision the system makes is logged, tagged as AI or fallback, and inspectable. If a judge asks 'what if the AI is wrong?' — the worker reviews and edits every field before saving. The human is always the final decision-maker. The AI reduces burden and improves prioritization. It never replaces judgment.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existing government health app requires English. Rani speaks Telugu. The app now speaks Telugu back. She selects her language in native script — she doesn't need to read English to find it. She speaks naturally. The report comes out in clean English for her supervisor. This is the language bridge that has never existed before.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LIVE DEMO MODE on your laptop before this slide] Watch what happens when I speak one sentence in Telugu. [Speak the sentence. Point to the pipeline lighting up. Point to the CRITICAL badge appearing. Point to the English report. This takes under 10 seconds.]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single government health app digitizes the old broken process. They take the paper form and put it on a screen. Sahayak AI is the first tool built around the worker's natural behavior — speak, don't type — and the first to give her output she can act on, not just data she has to submit.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minutes of paperwork eliminated per visit. Multiply that by 980,000 workers. Multiply again by hundreds of visits per week. This is not incremental improvement — this is a structural change to how frontline healthcare operates in India. The pilot is 90 days, 50 workers, one district. We know exactly who to call.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day, 980,000 Ranis go into the field with a paper register, a basic phone, and no system to help them decide who needs them first. We built Sahayak AI to change that. It takes 15 seconds to record. It works in their language. It works offline. And it tells them exactly what to do next. Thank you.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044"/>
        </a:solidFill>
        <a:effectLst/>
      </p:bgPr>
    </p:bg>
    <p:spTree>
      <p:nvGrpSpPr>
        <p:cNvPr id="1" name=""/>
        <p:cNvGrpSpPr/>
        <p:nvPr/>
      </p:nvGrpSpPr>
      <p:grpSpPr>
        <a:xfrm>
          <a:off x="0" y="0"/>
          <a:ext cx="0" cy="0"/>
          <a:chOff x="0" y="0"/>
          <a:chExt cx="0" cy="0"/>
        </a:xfrm>
      </p:grpSpPr>
      <p:sp>
        <p:nvSpPr>
          <p:cNvPr id="2" name="Shape 0"/>
          <p:cNvSpPr/>
          <p:nvPr/>
        </p:nvSpPr>
        <p:spPr>
          <a:xfrm>
            <a:off x="365760" y="365760"/>
            <a:ext cx="365760" cy="365760"/>
          </a:xfrm>
          <a:prstGeom prst="rect">
            <a:avLst/>
          </a:prstGeom>
          <a:solidFill>
            <a:srgbClr val="FFFFFF"/>
          </a:solidFill>
          <a:ln/>
        </p:spPr>
      </p:sp>
      <p:sp>
        <p:nvSpPr>
          <p:cNvPr id="3" name="Shape 1"/>
          <p:cNvSpPr/>
          <p:nvPr/>
        </p:nvSpPr>
        <p:spPr>
          <a:xfrm>
            <a:off x="411480" y="411480"/>
            <a:ext cx="274320" cy="274320"/>
          </a:xfrm>
          <a:prstGeom prst="rect">
            <a:avLst/>
          </a:prstGeom>
          <a:solidFill>
            <a:srgbClr val="0F2044"/>
          </a:solidFill>
          <a:ln/>
        </p:spPr>
      </p:sp>
      <p:sp>
        <p:nvSpPr>
          <p:cNvPr id="4" name="Text 2"/>
          <p:cNvSpPr/>
          <p:nvPr/>
        </p:nvSpPr>
        <p:spPr>
          <a:xfrm>
            <a:off x="914400" y="1188720"/>
            <a:ext cx="7315200" cy="731520"/>
          </a:xfrm>
          <a:prstGeom prst="rect">
            <a:avLst/>
          </a:prstGeom>
          <a:noFill/>
          <a:ln/>
        </p:spPr>
        <p:txBody>
          <a:bodyPr wrap="square" lIns="0" tIns="0" rIns="0" bIns="0" rtlCol="0" anchor="ctr"/>
          <a:lstStyle/>
          <a:p>
            <a:pPr marL="0" indent="0" algn="ctr">
              <a:buNone/>
            </a:pPr>
            <a:r>
              <a:rPr lang="en-US" sz="5200" b="1" dirty="0">
                <a:solidFill>
                  <a:srgbClr val="FFFFFF"/>
                </a:solidFill>
              </a:rPr>
              <a:t>Sahayak AI</a:t>
            </a:r>
            <a:endParaRPr lang="en-US" sz="5200" dirty="0"/>
          </a:p>
        </p:txBody>
      </p:sp>
      <p:sp>
        <p:nvSpPr>
          <p:cNvPr id="5" name="Text 3"/>
          <p:cNvSpPr/>
          <p:nvPr/>
        </p:nvSpPr>
        <p:spPr>
          <a:xfrm>
            <a:off x="914400" y="2103120"/>
            <a:ext cx="7315200" cy="365760"/>
          </a:xfrm>
          <a:prstGeom prst="rect">
            <a:avLst/>
          </a:prstGeom>
          <a:noFill/>
          <a:ln/>
        </p:spPr>
        <p:txBody>
          <a:bodyPr wrap="square" lIns="0" tIns="0" rIns="0" bIns="0" rtlCol="0" anchor="ctr"/>
          <a:lstStyle/>
          <a:p>
            <a:pPr marL="0" indent="0" algn="ctr">
              <a:buNone/>
            </a:pPr>
            <a:r>
              <a:rPr lang="en-US" sz="2200" dirty="0">
                <a:solidFill>
                  <a:srgbClr val="13B5A6"/>
                </a:solidFill>
              </a:rPr>
              <a:t>AI-Powered Decision Support for India's</a:t>
            </a:r>
            <a:endParaRPr lang="en-US" sz="2200" dirty="0"/>
          </a:p>
        </p:txBody>
      </p:sp>
      <p:sp>
        <p:nvSpPr>
          <p:cNvPr id="6" name="Text 4"/>
          <p:cNvSpPr/>
          <p:nvPr/>
        </p:nvSpPr>
        <p:spPr>
          <a:xfrm>
            <a:off x="914400" y="2514600"/>
            <a:ext cx="7315200" cy="365760"/>
          </a:xfrm>
          <a:prstGeom prst="rect">
            <a:avLst/>
          </a:prstGeom>
          <a:noFill/>
          <a:ln/>
        </p:spPr>
        <p:txBody>
          <a:bodyPr wrap="square" lIns="0" tIns="0" rIns="0" bIns="0" rtlCol="0" anchor="ctr"/>
          <a:lstStyle/>
          <a:p>
            <a:pPr marL="0" indent="0" algn="ctr">
              <a:buNone/>
            </a:pPr>
            <a:r>
              <a:rPr lang="en-US" sz="2200" dirty="0">
                <a:solidFill>
                  <a:srgbClr val="13B5A6"/>
                </a:solidFill>
              </a:rPr>
              <a:t>Frontline Health Workers</a:t>
            </a:r>
            <a:endParaRPr lang="en-US" sz="2200" dirty="0"/>
          </a:p>
        </p:txBody>
      </p:sp>
      <p:sp>
        <p:nvSpPr>
          <p:cNvPr id="7" name="Shape 5"/>
          <p:cNvSpPr/>
          <p:nvPr/>
        </p:nvSpPr>
        <p:spPr>
          <a:xfrm>
            <a:off x="3200400" y="3063240"/>
            <a:ext cx="2743200" cy="18288"/>
          </a:xfrm>
          <a:prstGeom prst="rect">
            <a:avLst/>
          </a:prstGeom>
          <a:solidFill>
            <a:srgbClr val="0D7A6F"/>
          </a:solidFill>
          <a:ln/>
        </p:spPr>
      </p:sp>
      <p:sp>
        <p:nvSpPr>
          <p:cNvPr id="8" name="Text 6"/>
          <p:cNvSpPr/>
          <p:nvPr/>
        </p:nvSpPr>
        <p:spPr>
          <a:xfrm>
            <a:off x="914400" y="3246120"/>
            <a:ext cx="7315200" cy="274320"/>
          </a:xfrm>
          <a:prstGeom prst="rect">
            <a:avLst/>
          </a:prstGeom>
          <a:noFill/>
          <a:ln/>
        </p:spPr>
        <p:txBody>
          <a:bodyPr wrap="square" lIns="0" tIns="0" rIns="0" bIns="0" rtlCol="0" anchor="ctr"/>
          <a:lstStyle/>
          <a:p>
            <a:pPr marL="0" indent="0" algn="ctr">
              <a:buNone/>
            </a:pPr>
            <a:r>
              <a:rPr lang="en-US" sz="1300" dirty="0">
                <a:solidFill>
                  <a:srgbClr val="FFFFFF"/>
                </a:solidFill>
              </a:rPr>
              <a:t>NxtWave Idea2Impact 2026 Hackathon  ·  Theme: AI for Industry &amp; Public Impact</a:t>
            </a:r>
            <a:endParaRPr lang="en-US" sz="1300" dirty="0"/>
          </a:p>
        </p:txBody>
      </p:sp>
      <p:sp>
        <p:nvSpPr>
          <p:cNvPr id="9" name="Text 7"/>
          <p:cNvSpPr/>
          <p:nvPr/>
        </p:nvSpPr>
        <p:spPr>
          <a:xfrm>
            <a:off x="914400" y="3520440"/>
            <a:ext cx="7315200" cy="274320"/>
          </a:xfrm>
          <a:prstGeom prst="rect">
            <a:avLst/>
          </a:prstGeom>
          <a:noFill/>
          <a:ln/>
        </p:spPr>
        <p:txBody>
          <a:bodyPr wrap="square" lIns="0" tIns="0" rIns="0" bIns="0" rtlCol="0" anchor="ctr"/>
          <a:lstStyle/>
          <a:p>
            <a:pPr marL="0" indent="0" algn="ctr">
              <a:buNone/>
            </a:pPr>
            <a:r>
              <a:rPr lang="en-US" sz="1300" dirty="0">
                <a:solidFill>
                  <a:srgbClr val="13B5A6"/>
                </a:solidFill>
              </a:rPr>
              <a:t>Healthcare &amp; Public Services Track</a:t>
            </a:r>
            <a:endParaRPr lang="en-US" sz="1300" dirty="0"/>
          </a:p>
        </p:txBody>
      </p:sp>
      <p:sp>
        <p:nvSpPr>
          <p:cNvPr id="10" name="Shape 8"/>
          <p:cNvSpPr/>
          <p:nvPr/>
        </p:nvSpPr>
        <p:spPr>
          <a:xfrm>
            <a:off x="2286000" y="4206240"/>
            <a:ext cx="1371600" cy="411480"/>
          </a:xfrm>
          <a:prstGeom prst="roundRect">
            <a:avLst/>
          </a:prstGeom>
          <a:solidFill>
            <a:srgbClr val="E0F5F3"/>
          </a:solidFill>
          <a:ln/>
        </p:spPr>
      </p:sp>
      <p:sp>
        <p:nvSpPr>
          <p:cNvPr id="11" name="Text 9"/>
          <p:cNvSpPr/>
          <p:nvPr/>
        </p:nvSpPr>
        <p:spPr>
          <a:xfrm>
            <a:off x="2286000" y="4206240"/>
            <a:ext cx="1371600" cy="411480"/>
          </a:xfrm>
          <a:prstGeom prst="rect">
            <a:avLst/>
          </a:prstGeom>
          <a:noFill/>
          <a:ln/>
        </p:spPr>
        <p:txBody>
          <a:bodyPr wrap="square" lIns="0" tIns="0" rIns="0" bIns="0" rtlCol="0" anchor="ctr"/>
          <a:lstStyle/>
          <a:p>
            <a:pPr marL="0" indent="0" algn="ctr">
              <a:buNone/>
            </a:pPr>
            <a:r>
              <a:rPr lang="en-US" sz="1100" b="1" dirty="0">
                <a:solidFill>
                  <a:srgbClr val="0F2044"/>
                </a:solidFill>
              </a:rPr>
              <a:t>980K Workers</a:t>
            </a:r>
            <a:endParaRPr lang="en-US" sz="1100" dirty="0"/>
          </a:p>
        </p:txBody>
      </p:sp>
      <p:sp>
        <p:nvSpPr>
          <p:cNvPr id="12" name="Shape 10"/>
          <p:cNvSpPr/>
          <p:nvPr/>
        </p:nvSpPr>
        <p:spPr>
          <a:xfrm>
            <a:off x="3886200" y="4206240"/>
            <a:ext cx="1371600" cy="411480"/>
          </a:xfrm>
          <a:prstGeom prst="roundRect">
            <a:avLst/>
          </a:prstGeom>
          <a:solidFill>
            <a:srgbClr val="E0F5F3"/>
          </a:solidFill>
          <a:ln/>
        </p:spPr>
      </p:sp>
      <p:sp>
        <p:nvSpPr>
          <p:cNvPr id="13" name="Text 11"/>
          <p:cNvSpPr/>
          <p:nvPr/>
        </p:nvSpPr>
        <p:spPr>
          <a:xfrm>
            <a:off x="3886200" y="4206240"/>
            <a:ext cx="1371600" cy="411480"/>
          </a:xfrm>
          <a:prstGeom prst="rect">
            <a:avLst/>
          </a:prstGeom>
          <a:noFill/>
          <a:ln/>
        </p:spPr>
        <p:txBody>
          <a:bodyPr wrap="square" lIns="0" tIns="0" rIns="0" bIns="0" rtlCol="0" anchor="ctr"/>
          <a:lstStyle/>
          <a:p>
            <a:pPr marL="0" indent="0" algn="ctr">
              <a:buNone/>
            </a:pPr>
            <a:r>
              <a:rPr lang="en-US" sz="1100" b="1" dirty="0">
                <a:solidFill>
                  <a:srgbClr val="0F2044"/>
                </a:solidFill>
              </a:rPr>
              <a:t>600M+ Served</a:t>
            </a:r>
            <a:endParaRPr lang="en-US" sz="1100" dirty="0"/>
          </a:p>
        </p:txBody>
      </p:sp>
      <p:sp>
        <p:nvSpPr>
          <p:cNvPr id="14" name="Shape 12"/>
          <p:cNvSpPr/>
          <p:nvPr/>
        </p:nvSpPr>
        <p:spPr>
          <a:xfrm>
            <a:off x="5486400" y="4206240"/>
            <a:ext cx="1371600" cy="411480"/>
          </a:xfrm>
          <a:prstGeom prst="roundRect">
            <a:avLst/>
          </a:prstGeom>
          <a:solidFill>
            <a:srgbClr val="E0F5F3"/>
          </a:solidFill>
          <a:ln/>
        </p:spPr>
      </p:sp>
      <p:sp>
        <p:nvSpPr>
          <p:cNvPr id="15" name="Text 13"/>
          <p:cNvSpPr/>
          <p:nvPr/>
        </p:nvSpPr>
        <p:spPr>
          <a:xfrm>
            <a:off x="5486400" y="4206240"/>
            <a:ext cx="1371600" cy="411480"/>
          </a:xfrm>
          <a:prstGeom prst="rect">
            <a:avLst/>
          </a:prstGeom>
          <a:noFill/>
          <a:ln/>
        </p:spPr>
        <p:txBody>
          <a:bodyPr wrap="square" lIns="0" tIns="0" rIns="0" bIns="0" rtlCol="0" anchor="ctr"/>
          <a:lstStyle/>
          <a:p>
            <a:pPr marL="0" indent="0" algn="ctr">
              <a:buNone/>
            </a:pPr>
            <a:r>
              <a:rPr lang="en-US" sz="1100" b="1" dirty="0">
                <a:solidFill>
                  <a:srgbClr val="0F2044"/>
                </a:solidFill>
              </a:rPr>
              <a:t>20% Staffed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365760" y="365760"/>
            <a:ext cx="5029200" cy="457200"/>
          </a:xfrm>
          <a:prstGeom prst="rect">
            <a:avLst/>
          </a:prstGeom>
          <a:noFill/>
          <a:ln/>
        </p:spPr>
        <p:txBody>
          <a:bodyPr wrap="square" lIns="0" tIns="0" rIns="0" bIns="0" rtlCol="0" anchor="ctr"/>
          <a:lstStyle/>
          <a:p>
            <a:pPr marL="0" indent="0">
              <a:buNone/>
            </a:pPr>
            <a:r>
              <a:rPr lang="en-US" sz="3200" b="1" dirty="0">
                <a:solidFill>
                  <a:srgbClr val="0D7A6F"/>
                </a:solidFill>
              </a:rPr>
              <a:t>The Problem</a:t>
            </a:r>
            <a:endParaRPr lang="en-US" sz="3200" dirty="0"/>
          </a:p>
        </p:txBody>
      </p:sp>
      <p:sp>
        <p:nvSpPr>
          <p:cNvPr id="3" name="Text 1"/>
          <p:cNvSpPr/>
          <p:nvPr/>
        </p:nvSpPr>
        <p:spPr>
          <a:xfrm>
            <a:off x="365760" y="868680"/>
            <a:ext cx="5029200" cy="548640"/>
          </a:xfrm>
          <a:prstGeom prst="rect">
            <a:avLst/>
          </a:prstGeom>
          <a:noFill/>
          <a:ln/>
        </p:spPr>
        <p:txBody>
          <a:bodyPr wrap="square" lIns="0" tIns="0" rIns="0" bIns="0" rtlCol="0" anchor="ctr"/>
          <a:lstStyle/>
          <a:p>
            <a:pPr marL="0" indent="0">
              <a:buNone/>
            </a:pPr>
            <a:r>
              <a:rPr lang="en-US" sz="1600" dirty="0">
                <a:solidFill>
                  <a:srgbClr val="0A1628"/>
                </a:solidFill>
              </a:rPr>
              <a:t>980,000 workers. No decision support. No way to know who needs help most.</a:t>
            </a:r>
            <a:endParaRPr lang="en-US" sz="1600" dirty="0"/>
          </a:p>
        </p:txBody>
      </p:sp>
      <p:sp>
        <p:nvSpPr>
          <p:cNvPr id="4" name="Shape 2"/>
          <p:cNvSpPr/>
          <p:nvPr/>
        </p:nvSpPr>
        <p:spPr>
          <a:xfrm>
            <a:off x="5669280" y="320040"/>
            <a:ext cx="1463040" cy="1005840"/>
          </a:xfrm>
          <a:prstGeom prst="rect">
            <a:avLst/>
          </a:prstGeom>
          <a:solidFill>
            <a:srgbClr val="DC2626"/>
          </a:solidFill>
          <a:ln/>
        </p:spPr>
      </p:sp>
      <p:sp>
        <p:nvSpPr>
          <p:cNvPr id="5" name="Text 3"/>
          <p:cNvSpPr/>
          <p:nvPr/>
        </p:nvSpPr>
        <p:spPr>
          <a:xfrm>
            <a:off x="5669280" y="384048"/>
            <a:ext cx="1463040" cy="411480"/>
          </a:xfrm>
          <a:prstGeom prst="rect">
            <a:avLst/>
          </a:prstGeom>
          <a:noFill/>
          <a:ln/>
        </p:spPr>
        <p:txBody>
          <a:bodyPr wrap="square" lIns="0" tIns="0" rIns="0" bIns="0" rtlCol="0" anchor="ctr"/>
          <a:lstStyle/>
          <a:p>
            <a:pPr marL="0" indent="0" algn="ctr">
              <a:buNone/>
            </a:pPr>
            <a:r>
              <a:rPr lang="en-US" b="1" dirty="0">
                <a:solidFill>
                  <a:srgbClr val="FFFFFF"/>
                </a:solidFill>
              </a:rPr>
              <a:t>~</a:t>
            </a:r>
            <a:r>
              <a:rPr lang="en-US" sz="2800" b="1" dirty="0">
                <a:solidFill>
                  <a:srgbClr val="FFFFFF"/>
                </a:solidFill>
              </a:rPr>
              <a:t>20%</a:t>
            </a:r>
            <a:endParaRPr lang="en-US" sz="2800" dirty="0"/>
          </a:p>
        </p:txBody>
      </p:sp>
      <p:sp>
        <p:nvSpPr>
          <p:cNvPr id="6" name="Text 4"/>
          <p:cNvSpPr/>
          <p:nvPr/>
        </p:nvSpPr>
        <p:spPr>
          <a:xfrm>
            <a:off x="5669280" y="804672"/>
            <a:ext cx="1463040" cy="274320"/>
          </a:xfrm>
          <a:prstGeom prst="rect">
            <a:avLst/>
          </a:prstGeom>
          <a:noFill/>
          <a:ln/>
        </p:spPr>
        <p:txBody>
          <a:bodyPr wrap="square" lIns="0" tIns="0" rIns="0" bIns="0" rtlCol="0" anchor="ctr"/>
          <a:lstStyle/>
          <a:p>
            <a:pPr marL="0" indent="0" algn="ctr">
              <a:buNone/>
            </a:pPr>
            <a:r>
              <a:rPr lang="en-US" sz="1000" dirty="0">
                <a:solidFill>
                  <a:srgbClr val="FFFFFF"/>
                </a:solidFill>
              </a:rPr>
              <a:t>functional staffing</a:t>
            </a:r>
            <a:endParaRPr lang="en-US" sz="1000" dirty="0"/>
          </a:p>
        </p:txBody>
      </p:sp>
      <p:sp>
        <p:nvSpPr>
          <p:cNvPr id="7" name="Shape 5"/>
          <p:cNvSpPr/>
          <p:nvPr/>
        </p:nvSpPr>
        <p:spPr>
          <a:xfrm>
            <a:off x="7269480" y="320040"/>
            <a:ext cx="1463040" cy="1005840"/>
          </a:xfrm>
          <a:prstGeom prst="rect">
            <a:avLst/>
          </a:prstGeom>
          <a:solidFill>
            <a:srgbClr val="EA580C"/>
          </a:solidFill>
          <a:ln/>
        </p:spPr>
      </p:sp>
      <p:sp>
        <p:nvSpPr>
          <p:cNvPr id="8" name="Text 6"/>
          <p:cNvSpPr/>
          <p:nvPr/>
        </p:nvSpPr>
        <p:spPr>
          <a:xfrm>
            <a:off x="7269480" y="384048"/>
            <a:ext cx="1463040" cy="411480"/>
          </a:xfrm>
          <a:prstGeom prst="rect">
            <a:avLst/>
          </a:prstGeom>
          <a:noFill/>
          <a:ln/>
        </p:spPr>
        <p:txBody>
          <a:bodyPr wrap="square" lIns="0" tIns="0" rIns="0" bIns="0" rtlCol="0" anchor="ctr"/>
          <a:lstStyle/>
          <a:p>
            <a:pPr marL="0" indent="0" algn="ctr">
              <a:buNone/>
            </a:pPr>
            <a:r>
              <a:rPr lang="en-US" sz="2800" b="1" dirty="0">
                <a:solidFill>
                  <a:srgbClr val="FFFFFF"/>
                </a:solidFill>
              </a:rPr>
              <a:t>600M+</a:t>
            </a:r>
            <a:endParaRPr lang="en-US" sz="2800" dirty="0"/>
          </a:p>
        </p:txBody>
      </p:sp>
      <p:sp>
        <p:nvSpPr>
          <p:cNvPr id="9" name="Text 7"/>
          <p:cNvSpPr/>
          <p:nvPr/>
        </p:nvSpPr>
        <p:spPr>
          <a:xfrm>
            <a:off x="7269480" y="804672"/>
            <a:ext cx="1463040" cy="274320"/>
          </a:xfrm>
          <a:prstGeom prst="rect">
            <a:avLst/>
          </a:prstGeom>
          <a:noFill/>
          <a:ln/>
        </p:spPr>
        <p:txBody>
          <a:bodyPr wrap="square" lIns="0" tIns="0" rIns="0" bIns="0" rtlCol="0" anchor="ctr"/>
          <a:lstStyle/>
          <a:p>
            <a:pPr marL="0" indent="0" algn="ctr">
              <a:buNone/>
            </a:pPr>
            <a:r>
              <a:rPr lang="en-US" sz="1000" dirty="0">
                <a:solidFill>
                  <a:srgbClr val="FFFFFF"/>
                </a:solidFill>
              </a:rPr>
              <a:t>rural Indians at risk</a:t>
            </a:r>
            <a:endParaRPr lang="en-US" sz="1000" dirty="0"/>
          </a:p>
        </p:txBody>
      </p:sp>
      <p:sp>
        <p:nvSpPr>
          <p:cNvPr id="10" name="Shape 8"/>
          <p:cNvSpPr/>
          <p:nvPr/>
        </p:nvSpPr>
        <p:spPr>
          <a:xfrm>
            <a:off x="365760" y="1508760"/>
            <a:ext cx="8412480" cy="18288"/>
          </a:xfrm>
          <a:prstGeom prst="rect">
            <a:avLst/>
          </a:prstGeom>
          <a:solidFill>
            <a:srgbClr val="E0F5F3"/>
          </a:solidFill>
          <a:ln/>
        </p:spPr>
      </p:sp>
      <p:sp>
        <p:nvSpPr>
          <p:cNvPr id="11" name="Shape 9"/>
          <p:cNvSpPr/>
          <p:nvPr/>
        </p:nvSpPr>
        <p:spPr>
          <a:xfrm>
            <a:off x="402336" y="1682496"/>
            <a:ext cx="4114800" cy="1325880"/>
          </a:xfrm>
          <a:prstGeom prst="rect">
            <a:avLst/>
          </a:prstGeom>
          <a:solidFill>
            <a:srgbClr val="E2E8F0"/>
          </a:solidFill>
          <a:ln/>
        </p:spPr>
      </p:sp>
      <p:sp>
        <p:nvSpPr>
          <p:cNvPr id="12" name="Shape 10"/>
          <p:cNvSpPr/>
          <p:nvPr/>
        </p:nvSpPr>
        <p:spPr>
          <a:xfrm>
            <a:off x="365760" y="1645920"/>
            <a:ext cx="4114800" cy="1325880"/>
          </a:xfrm>
          <a:prstGeom prst="rect">
            <a:avLst/>
          </a:prstGeom>
          <a:solidFill>
            <a:srgbClr val="FFFFFF"/>
          </a:solidFill>
          <a:ln/>
        </p:spPr>
      </p:sp>
      <p:sp>
        <p:nvSpPr>
          <p:cNvPr id="13" name="Shape 11"/>
          <p:cNvSpPr/>
          <p:nvPr/>
        </p:nvSpPr>
        <p:spPr>
          <a:xfrm>
            <a:off x="548640" y="1810512"/>
            <a:ext cx="292608" cy="292608"/>
          </a:xfrm>
          <a:prstGeom prst="ellipse">
            <a:avLst/>
          </a:prstGeom>
          <a:solidFill>
            <a:srgbClr val="DC2626"/>
          </a:solidFill>
          <a:ln/>
        </p:spPr>
      </p:sp>
      <p:sp>
        <p:nvSpPr>
          <p:cNvPr id="14" name="Text 12"/>
          <p:cNvSpPr/>
          <p:nvPr/>
        </p:nvSpPr>
        <p:spPr>
          <a:xfrm>
            <a:off x="548640" y="181051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rPr>
              <a:t>⚠</a:t>
            </a:r>
            <a:endParaRPr lang="en-US" sz="1200" dirty="0"/>
          </a:p>
        </p:txBody>
      </p:sp>
      <p:sp>
        <p:nvSpPr>
          <p:cNvPr id="15" name="Text 13"/>
          <p:cNvSpPr/>
          <p:nvPr/>
        </p:nvSpPr>
        <p:spPr>
          <a:xfrm>
            <a:off x="960120" y="1792224"/>
            <a:ext cx="3291840" cy="274320"/>
          </a:xfrm>
          <a:prstGeom prst="rect">
            <a:avLst/>
          </a:prstGeom>
          <a:noFill/>
          <a:ln/>
        </p:spPr>
        <p:txBody>
          <a:bodyPr wrap="square" lIns="0" tIns="0" rIns="0" bIns="0" rtlCol="0" anchor="ctr"/>
          <a:lstStyle/>
          <a:p>
            <a:pPr marL="0" indent="0">
              <a:buNone/>
            </a:pPr>
            <a:r>
              <a:rPr lang="en-US" sz="1400" b="1" dirty="0">
                <a:solidFill>
                  <a:srgbClr val="0F2044"/>
                </a:solidFill>
              </a:rPr>
              <a:t>Manual Form-Filling</a:t>
            </a:r>
            <a:endParaRPr lang="en-US" sz="1400" dirty="0"/>
          </a:p>
        </p:txBody>
      </p:sp>
      <p:sp>
        <p:nvSpPr>
          <p:cNvPr id="16" name="Text 14"/>
          <p:cNvSpPr/>
          <p:nvPr/>
        </p:nvSpPr>
        <p:spPr>
          <a:xfrm>
            <a:off x="548640" y="2176272"/>
            <a:ext cx="3749040" cy="685800"/>
          </a:xfrm>
          <a:prstGeom prst="rect">
            <a:avLst/>
          </a:prstGeom>
          <a:noFill/>
          <a:ln/>
        </p:spPr>
        <p:txBody>
          <a:bodyPr wrap="square" lIns="0" tIns="0" rIns="0" bIns="0" rtlCol="0" anchor="ctr"/>
          <a:lstStyle/>
          <a:p>
            <a:pPr marL="0" indent="0">
              <a:buNone/>
            </a:pPr>
            <a:r>
              <a:rPr lang="en-US" sz="1100" dirty="0">
                <a:solidFill>
                  <a:srgbClr val="6B7280"/>
                </a:solidFill>
              </a:rPr>
              <a:t>Existing apps demand typed English forms after every visit. Workers spend more time on paperwork than patients.</a:t>
            </a:r>
            <a:endParaRPr lang="en-US" sz="1100" dirty="0"/>
          </a:p>
        </p:txBody>
      </p:sp>
      <p:sp>
        <p:nvSpPr>
          <p:cNvPr id="17" name="Shape 15"/>
          <p:cNvSpPr/>
          <p:nvPr/>
        </p:nvSpPr>
        <p:spPr>
          <a:xfrm>
            <a:off x="4700016" y="1682496"/>
            <a:ext cx="4114800" cy="1325880"/>
          </a:xfrm>
          <a:prstGeom prst="rect">
            <a:avLst/>
          </a:prstGeom>
          <a:solidFill>
            <a:srgbClr val="E2E8F0"/>
          </a:solidFill>
          <a:ln/>
        </p:spPr>
      </p:sp>
      <p:sp>
        <p:nvSpPr>
          <p:cNvPr id="18" name="Shape 16"/>
          <p:cNvSpPr/>
          <p:nvPr/>
        </p:nvSpPr>
        <p:spPr>
          <a:xfrm>
            <a:off x="4663440" y="1645920"/>
            <a:ext cx="4114800" cy="1325880"/>
          </a:xfrm>
          <a:prstGeom prst="rect">
            <a:avLst/>
          </a:prstGeom>
          <a:solidFill>
            <a:srgbClr val="FFFFFF"/>
          </a:solidFill>
          <a:ln/>
        </p:spPr>
      </p:sp>
      <p:sp>
        <p:nvSpPr>
          <p:cNvPr id="19" name="Shape 17"/>
          <p:cNvSpPr/>
          <p:nvPr/>
        </p:nvSpPr>
        <p:spPr>
          <a:xfrm>
            <a:off x="4846320" y="1810512"/>
            <a:ext cx="292608" cy="292608"/>
          </a:xfrm>
          <a:prstGeom prst="ellipse">
            <a:avLst/>
          </a:prstGeom>
          <a:solidFill>
            <a:srgbClr val="DC2626"/>
          </a:solidFill>
          <a:ln/>
        </p:spPr>
      </p:sp>
      <p:sp>
        <p:nvSpPr>
          <p:cNvPr id="20" name="Text 18"/>
          <p:cNvSpPr/>
          <p:nvPr/>
        </p:nvSpPr>
        <p:spPr>
          <a:xfrm>
            <a:off x="4846320" y="181051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rPr>
              <a:t>?</a:t>
            </a:r>
            <a:endParaRPr lang="en-US" sz="1200" dirty="0"/>
          </a:p>
        </p:txBody>
      </p:sp>
      <p:sp>
        <p:nvSpPr>
          <p:cNvPr id="21" name="Text 19"/>
          <p:cNvSpPr/>
          <p:nvPr/>
        </p:nvSpPr>
        <p:spPr>
          <a:xfrm>
            <a:off x="5257800" y="1792224"/>
            <a:ext cx="3291840" cy="274320"/>
          </a:xfrm>
          <a:prstGeom prst="rect">
            <a:avLst/>
          </a:prstGeom>
          <a:noFill/>
          <a:ln/>
        </p:spPr>
        <p:txBody>
          <a:bodyPr wrap="square" lIns="0" tIns="0" rIns="0" bIns="0" rtlCol="0" anchor="ctr"/>
          <a:lstStyle/>
          <a:p>
            <a:pPr marL="0" indent="0">
              <a:buNone/>
            </a:pPr>
            <a:r>
              <a:rPr lang="en-US" sz="1400" b="1" dirty="0">
                <a:solidFill>
                  <a:srgbClr val="0F2044"/>
                </a:solidFill>
              </a:rPr>
              <a:t>Zero Prioritization</a:t>
            </a:r>
            <a:endParaRPr lang="en-US" sz="1400" dirty="0"/>
          </a:p>
        </p:txBody>
      </p:sp>
      <p:sp>
        <p:nvSpPr>
          <p:cNvPr id="22" name="Text 20"/>
          <p:cNvSpPr/>
          <p:nvPr/>
        </p:nvSpPr>
        <p:spPr>
          <a:xfrm>
            <a:off x="4846320" y="2176272"/>
            <a:ext cx="3749040" cy="685800"/>
          </a:xfrm>
          <a:prstGeom prst="rect">
            <a:avLst/>
          </a:prstGeom>
          <a:noFill/>
          <a:ln/>
        </p:spPr>
        <p:txBody>
          <a:bodyPr wrap="square" lIns="0" tIns="0" rIns="0" bIns="0" rtlCol="0" anchor="ctr"/>
          <a:lstStyle/>
          <a:p>
            <a:pPr marL="0" indent="0">
              <a:buNone/>
            </a:pPr>
            <a:r>
              <a:rPr lang="en-US" sz="1100" dirty="0">
                <a:solidFill>
                  <a:srgbClr val="6B7280"/>
                </a:solidFill>
              </a:rPr>
              <a:t>No tool tells a worker which household needs her most urgently. She triages 500+ homes from memory, daily.</a:t>
            </a:r>
            <a:endParaRPr lang="en-US" sz="1100" dirty="0"/>
          </a:p>
        </p:txBody>
      </p:sp>
      <p:sp>
        <p:nvSpPr>
          <p:cNvPr id="23" name="Shape 21"/>
          <p:cNvSpPr/>
          <p:nvPr/>
        </p:nvSpPr>
        <p:spPr>
          <a:xfrm>
            <a:off x="402336" y="3191256"/>
            <a:ext cx="4114800" cy="1325880"/>
          </a:xfrm>
          <a:prstGeom prst="rect">
            <a:avLst/>
          </a:prstGeom>
          <a:solidFill>
            <a:srgbClr val="E2E8F0"/>
          </a:solidFill>
          <a:ln/>
        </p:spPr>
      </p:sp>
      <p:sp>
        <p:nvSpPr>
          <p:cNvPr id="24" name="Shape 22"/>
          <p:cNvSpPr/>
          <p:nvPr/>
        </p:nvSpPr>
        <p:spPr>
          <a:xfrm>
            <a:off x="365760" y="3154680"/>
            <a:ext cx="4114800" cy="1325880"/>
          </a:xfrm>
          <a:prstGeom prst="rect">
            <a:avLst/>
          </a:prstGeom>
          <a:solidFill>
            <a:srgbClr val="FFFFFF"/>
          </a:solidFill>
          <a:ln/>
        </p:spPr>
      </p:sp>
      <p:sp>
        <p:nvSpPr>
          <p:cNvPr id="25" name="Shape 23"/>
          <p:cNvSpPr/>
          <p:nvPr/>
        </p:nvSpPr>
        <p:spPr>
          <a:xfrm>
            <a:off x="548640" y="3319272"/>
            <a:ext cx="292608" cy="292608"/>
          </a:xfrm>
          <a:prstGeom prst="ellipse">
            <a:avLst/>
          </a:prstGeom>
          <a:solidFill>
            <a:srgbClr val="DC2626"/>
          </a:solidFill>
          <a:ln/>
        </p:spPr>
      </p:sp>
      <p:sp>
        <p:nvSpPr>
          <p:cNvPr id="26" name="Text 24"/>
          <p:cNvSpPr/>
          <p:nvPr/>
        </p:nvSpPr>
        <p:spPr>
          <a:xfrm>
            <a:off x="548640" y="331927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rPr>
              <a:t>✗</a:t>
            </a:r>
            <a:endParaRPr lang="en-US" sz="1200" dirty="0"/>
          </a:p>
        </p:txBody>
      </p:sp>
      <p:sp>
        <p:nvSpPr>
          <p:cNvPr id="27" name="Text 25"/>
          <p:cNvSpPr/>
          <p:nvPr/>
        </p:nvSpPr>
        <p:spPr>
          <a:xfrm>
            <a:off x="960120" y="3300984"/>
            <a:ext cx="3291840" cy="274320"/>
          </a:xfrm>
          <a:prstGeom prst="rect">
            <a:avLst/>
          </a:prstGeom>
          <a:noFill/>
          <a:ln/>
        </p:spPr>
        <p:txBody>
          <a:bodyPr wrap="square" lIns="0" tIns="0" rIns="0" bIns="0" rtlCol="0" anchor="ctr"/>
          <a:lstStyle/>
          <a:p>
            <a:pPr marL="0" indent="0">
              <a:buNone/>
            </a:pPr>
            <a:r>
              <a:rPr lang="en-US" sz="1400" b="1" dirty="0">
                <a:solidFill>
                  <a:srgbClr val="0F2044"/>
                </a:solidFill>
              </a:rPr>
              <a:t>Language Barrier</a:t>
            </a:r>
            <a:endParaRPr lang="en-US" sz="1400" dirty="0"/>
          </a:p>
        </p:txBody>
      </p:sp>
      <p:sp>
        <p:nvSpPr>
          <p:cNvPr id="28" name="Text 26"/>
          <p:cNvSpPr/>
          <p:nvPr/>
        </p:nvSpPr>
        <p:spPr>
          <a:xfrm>
            <a:off x="548640" y="3685032"/>
            <a:ext cx="3749040" cy="685800"/>
          </a:xfrm>
          <a:prstGeom prst="rect">
            <a:avLst/>
          </a:prstGeom>
          <a:noFill/>
          <a:ln/>
        </p:spPr>
        <p:txBody>
          <a:bodyPr wrap="square" lIns="0" tIns="0" rIns="0" bIns="0" rtlCol="0" anchor="ctr"/>
          <a:lstStyle/>
          <a:p>
            <a:pPr marL="0" indent="0">
              <a:buNone/>
            </a:pPr>
            <a:r>
              <a:rPr lang="en-US" sz="1100" dirty="0">
                <a:solidFill>
                  <a:srgbClr val="6B7280"/>
                </a:solidFill>
              </a:rPr>
              <a:t>Every tool is English-only. Workers who speak Telugu, Hindi, Tamil cannot use them naturally.</a:t>
            </a:r>
            <a:endParaRPr lang="en-US" sz="1100" dirty="0"/>
          </a:p>
        </p:txBody>
      </p:sp>
      <p:sp>
        <p:nvSpPr>
          <p:cNvPr id="29" name="Shape 27"/>
          <p:cNvSpPr/>
          <p:nvPr/>
        </p:nvSpPr>
        <p:spPr>
          <a:xfrm>
            <a:off x="4700016" y="3191256"/>
            <a:ext cx="4114800" cy="1325880"/>
          </a:xfrm>
          <a:prstGeom prst="rect">
            <a:avLst/>
          </a:prstGeom>
          <a:solidFill>
            <a:srgbClr val="E2E8F0"/>
          </a:solidFill>
          <a:ln/>
        </p:spPr>
      </p:sp>
      <p:sp>
        <p:nvSpPr>
          <p:cNvPr id="30" name="Shape 28"/>
          <p:cNvSpPr/>
          <p:nvPr/>
        </p:nvSpPr>
        <p:spPr>
          <a:xfrm>
            <a:off x="4663440" y="3154680"/>
            <a:ext cx="4114800" cy="1325880"/>
          </a:xfrm>
          <a:prstGeom prst="rect">
            <a:avLst/>
          </a:prstGeom>
          <a:solidFill>
            <a:srgbClr val="FFFFFF"/>
          </a:solidFill>
          <a:ln/>
        </p:spPr>
      </p:sp>
      <p:sp>
        <p:nvSpPr>
          <p:cNvPr id="31" name="Shape 29"/>
          <p:cNvSpPr/>
          <p:nvPr/>
        </p:nvSpPr>
        <p:spPr>
          <a:xfrm>
            <a:off x="4846320" y="3319272"/>
            <a:ext cx="292608" cy="292608"/>
          </a:xfrm>
          <a:prstGeom prst="ellipse">
            <a:avLst/>
          </a:prstGeom>
          <a:solidFill>
            <a:srgbClr val="DC2626"/>
          </a:solidFill>
          <a:ln/>
        </p:spPr>
      </p:sp>
      <p:sp>
        <p:nvSpPr>
          <p:cNvPr id="32" name="Text 30"/>
          <p:cNvSpPr/>
          <p:nvPr/>
        </p:nvSpPr>
        <p:spPr>
          <a:xfrm>
            <a:off x="4846320" y="331927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rPr>
              <a:t>!</a:t>
            </a:r>
            <a:endParaRPr lang="en-US" sz="1200" dirty="0"/>
          </a:p>
        </p:txBody>
      </p:sp>
      <p:sp>
        <p:nvSpPr>
          <p:cNvPr id="33" name="Text 31"/>
          <p:cNvSpPr/>
          <p:nvPr/>
        </p:nvSpPr>
        <p:spPr>
          <a:xfrm>
            <a:off x="5257800" y="3300984"/>
            <a:ext cx="3291840" cy="274320"/>
          </a:xfrm>
          <a:prstGeom prst="rect">
            <a:avLst/>
          </a:prstGeom>
          <a:noFill/>
          <a:ln/>
        </p:spPr>
        <p:txBody>
          <a:bodyPr wrap="square" lIns="0" tIns="0" rIns="0" bIns="0" rtlCol="0" anchor="ctr"/>
          <a:lstStyle/>
          <a:p>
            <a:pPr marL="0" indent="0">
              <a:buNone/>
            </a:pPr>
            <a:r>
              <a:rPr lang="en-US" sz="1400" b="1" dirty="0">
                <a:solidFill>
                  <a:srgbClr val="0F2044"/>
                </a:solidFill>
              </a:rPr>
              <a:t>Late Detection</a:t>
            </a:r>
            <a:endParaRPr lang="en-US" sz="1400" dirty="0"/>
          </a:p>
        </p:txBody>
      </p:sp>
      <p:sp>
        <p:nvSpPr>
          <p:cNvPr id="34" name="Text 32"/>
          <p:cNvSpPr/>
          <p:nvPr/>
        </p:nvSpPr>
        <p:spPr>
          <a:xfrm>
            <a:off x="4846320" y="3685032"/>
            <a:ext cx="3749040" cy="685800"/>
          </a:xfrm>
          <a:prstGeom prst="rect">
            <a:avLst/>
          </a:prstGeom>
          <a:noFill/>
          <a:ln/>
        </p:spPr>
        <p:txBody>
          <a:bodyPr wrap="square" lIns="0" tIns="0" rIns="0" bIns="0" rtlCol="0" anchor="ctr"/>
          <a:lstStyle/>
          <a:p>
            <a:pPr marL="0" indent="0">
              <a:buNone/>
            </a:pPr>
            <a:r>
              <a:rPr lang="en-US" sz="1100" dirty="0">
                <a:solidFill>
                  <a:srgbClr val="6B7280"/>
                </a:solidFill>
              </a:rPr>
              <a:t>Missed immunizations, malnourished children, TB dropouts — detected only after they become emergencies.</a:t>
            </a:r>
            <a:endParaRPr lang="en-US" sz="1100" dirty="0"/>
          </a:p>
        </p:txBody>
      </p:sp>
      <p:sp>
        <p:nvSpPr>
          <p:cNvPr id="35" name="Shape 33"/>
          <p:cNvSpPr/>
          <p:nvPr/>
        </p:nvSpPr>
        <p:spPr>
          <a:xfrm>
            <a:off x="0" y="4663440"/>
            <a:ext cx="9144000" cy="480060"/>
          </a:xfrm>
          <a:prstGeom prst="rect">
            <a:avLst/>
          </a:prstGeom>
          <a:solidFill>
            <a:srgbClr val="0F2044"/>
          </a:solidFill>
          <a:ln/>
        </p:spPr>
      </p:sp>
      <p:sp>
        <p:nvSpPr>
          <p:cNvPr id="36" name="Text 34"/>
          <p:cNvSpPr/>
          <p:nvPr/>
        </p:nvSpPr>
        <p:spPr>
          <a:xfrm>
            <a:off x="0" y="4754880"/>
            <a:ext cx="9144000" cy="274320"/>
          </a:xfrm>
          <a:prstGeom prst="rect">
            <a:avLst/>
          </a:prstGeom>
          <a:noFill/>
          <a:ln/>
        </p:spPr>
        <p:txBody>
          <a:bodyPr wrap="square" lIns="0" tIns="0" rIns="0" bIns="0" rtlCol="0" anchor="ctr"/>
          <a:lstStyle/>
          <a:p>
            <a:pPr marL="0" indent="0" algn="ctr">
              <a:buNone/>
            </a:pPr>
            <a:r>
              <a:rPr lang="en-US" sz="1300" b="1" dirty="0">
                <a:solidFill>
                  <a:srgbClr val="FFFFFF"/>
                </a:solidFill>
              </a:rPr>
              <a:t>Existing tools added more burden. None reduced it.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531" y="0"/>
            <a:ext cx="4389120" cy="5143500"/>
          </a:xfrm>
          <a:prstGeom prst="rect">
            <a:avLst/>
          </a:prstGeom>
          <a:solidFill>
            <a:srgbClr val="0F2044"/>
          </a:solidFill>
          <a:ln/>
        </p:spPr>
      </p:sp>
      <p:sp>
        <p:nvSpPr>
          <p:cNvPr id="3" name="Shape 1"/>
          <p:cNvSpPr/>
          <p:nvPr/>
        </p:nvSpPr>
        <p:spPr>
          <a:xfrm>
            <a:off x="4369527" y="39187"/>
            <a:ext cx="4754880" cy="5143500"/>
          </a:xfrm>
          <a:prstGeom prst="rect">
            <a:avLst/>
          </a:prstGeom>
          <a:solidFill>
            <a:srgbClr val="F4F6F9"/>
          </a:solidFill>
          <a:ln/>
        </p:spPr>
      </p:sp>
      <p:sp>
        <p:nvSpPr>
          <p:cNvPr id="4" name="Text 2"/>
          <p:cNvSpPr/>
          <p:nvPr/>
        </p:nvSpPr>
        <p:spPr>
          <a:xfrm>
            <a:off x="274320" y="182880"/>
            <a:ext cx="914400" cy="731520"/>
          </a:xfrm>
          <a:prstGeom prst="rect">
            <a:avLst/>
          </a:prstGeom>
          <a:noFill/>
          <a:ln/>
        </p:spPr>
        <p:txBody>
          <a:bodyPr wrap="square" lIns="0" tIns="0" rIns="0" bIns="0" rtlCol="0" anchor="ctr"/>
          <a:lstStyle/>
          <a:p>
            <a:pPr marL="0" indent="0">
              <a:buNone/>
            </a:pPr>
            <a:r>
              <a:rPr lang="en-US" sz="8000" b="1" dirty="0">
                <a:solidFill>
                  <a:srgbClr val="0D7A6F"/>
                </a:solidFill>
              </a:rPr>
              <a:t>"</a:t>
            </a:r>
            <a:endParaRPr lang="en-US" sz="8000" dirty="0"/>
          </a:p>
        </p:txBody>
      </p:sp>
      <p:sp>
        <p:nvSpPr>
          <p:cNvPr id="5" name="Text 3"/>
          <p:cNvSpPr/>
          <p:nvPr/>
        </p:nvSpPr>
        <p:spPr>
          <a:xfrm>
            <a:off x="365760" y="1005840"/>
            <a:ext cx="3840480" cy="2011680"/>
          </a:xfrm>
          <a:prstGeom prst="rect">
            <a:avLst/>
          </a:prstGeom>
          <a:noFill/>
          <a:ln/>
        </p:spPr>
        <p:txBody>
          <a:bodyPr wrap="square" lIns="0" tIns="0" rIns="0" bIns="0" rtlCol="0" anchor="ctr"/>
          <a:lstStyle/>
          <a:p>
            <a:pPr marL="0" indent="0">
              <a:buNone/>
            </a:pPr>
            <a:r>
              <a:rPr lang="en-US" sz="1500" i="1" dirty="0">
                <a:solidFill>
                  <a:srgbClr val="FFFFFF"/>
                </a:solidFill>
              </a:rPr>
              <a:t>I cover more than 500 households.</a:t>
            </a:r>
            <a:endParaRPr lang="en-US" sz="1500" dirty="0"/>
          </a:p>
          <a:p>
            <a:pPr marL="0" indent="0">
              <a:buNone/>
            </a:pPr>
            <a:r>
              <a:rPr lang="en-US" sz="1500" i="1" dirty="0">
                <a:solidFill>
                  <a:srgbClr val="FFFFFF"/>
                </a:solidFill>
              </a:rPr>
              <a:t>After every visit, I fill forms for</a:t>
            </a:r>
            <a:endParaRPr lang="en-US" sz="1500" dirty="0"/>
          </a:p>
          <a:p>
            <a:pPr marL="0" indent="0">
              <a:buNone/>
            </a:pPr>
            <a:r>
              <a:rPr lang="en-US" sz="1500" i="1" dirty="0">
                <a:solidFill>
                  <a:srgbClr val="FFFFFF"/>
                </a:solidFill>
              </a:rPr>
              <a:t>30 minutes. By the time I finish,</a:t>
            </a:r>
            <a:endParaRPr lang="en-US" sz="1500" dirty="0"/>
          </a:p>
          <a:p>
            <a:pPr marL="0" indent="0">
              <a:buNone/>
            </a:pPr>
            <a:r>
              <a:rPr lang="en-US" sz="1500" i="1" dirty="0">
                <a:solidFill>
                  <a:srgbClr val="FFFFFF"/>
                </a:solidFill>
              </a:rPr>
              <a:t>I've forgotten who was most at risk.</a:t>
            </a:r>
            <a:endParaRPr lang="en-US" sz="1500" dirty="0"/>
          </a:p>
        </p:txBody>
      </p:sp>
      <p:sp>
        <p:nvSpPr>
          <p:cNvPr id="6" name="Text 4"/>
          <p:cNvSpPr/>
          <p:nvPr/>
        </p:nvSpPr>
        <p:spPr>
          <a:xfrm>
            <a:off x="365760" y="3200400"/>
            <a:ext cx="3840480" cy="274320"/>
          </a:xfrm>
          <a:prstGeom prst="rect">
            <a:avLst/>
          </a:prstGeom>
          <a:noFill/>
          <a:ln/>
        </p:spPr>
        <p:txBody>
          <a:bodyPr wrap="square" lIns="0" tIns="0" rIns="0" bIns="0" rtlCol="0" anchor="ctr"/>
          <a:lstStyle/>
          <a:p>
            <a:pPr marL="0" indent="0">
              <a:buNone/>
            </a:pPr>
            <a:r>
              <a:rPr lang="en-US" sz="1300" b="1" dirty="0">
                <a:solidFill>
                  <a:srgbClr val="13B5A6"/>
                </a:solidFill>
              </a:rPr>
              <a:t>— Rani, ANM Worker</a:t>
            </a:r>
            <a:endParaRPr lang="en-US" sz="1300" dirty="0"/>
          </a:p>
        </p:txBody>
      </p:sp>
      <p:sp>
        <p:nvSpPr>
          <p:cNvPr id="7" name="Text 5"/>
          <p:cNvSpPr/>
          <p:nvPr/>
        </p:nvSpPr>
        <p:spPr>
          <a:xfrm>
            <a:off x="365760" y="3474720"/>
            <a:ext cx="3840480" cy="274320"/>
          </a:xfrm>
          <a:prstGeom prst="rect">
            <a:avLst/>
          </a:prstGeom>
          <a:noFill/>
          <a:ln/>
        </p:spPr>
        <p:txBody>
          <a:bodyPr wrap="square" lIns="0" tIns="0" rIns="0" bIns="0" rtlCol="0" anchor="ctr"/>
          <a:lstStyle/>
          <a:p>
            <a:pPr marL="0" indent="0">
              <a:buNone/>
            </a:pPr>
            <a:r>
              <a:rPr lang="en-US" sz="1100" dirty="0">
                <a:solidFill>
                  <a:srgbClr val="CCCCCC"/>
                </a:solidFill>
              </a:rPr>
              <a:t>Primary Health Centre, Rural Telangana</a:t>
            </a:r>
            <a:endParaRPr lang="en-US" sz="1100" dirty="0"/>
          </a:p>
        </p:txBody>
      </p:sp>
      <p:sp>
        <p:nvSpPr>
          <p:cNvPr id="8" name="Text 6"/>
          <p:cNvSpPr/>
          <p:nvPr/>
        </p:nvSpPr>
        <p:spPr>
          <a:xfrm>
            <a:off x="365760" y="3749040"/>
            <a:ext cx="3840480" cy="274320"/>
          </a:xfrm>
          <a:prstGeom prst="rect">
            <a:avLst/>
          </a:prstGeom>
          <a:noFill/>
          <a:ln/>
        </p:spPr>
        <p:txBody>
          <a:bodyPr wrap="square" lIns="0" tIns="0" rIns="0" bIns="0" rtlCol="0" anchor="ctr"/>
          <a:lstStyle/>
          <a:p>
            <a:pPr marL="0" indent="0">
              <a:buNone/>
            </a:pPr>
            <a:r>
              <a:rPr lang="en-US" sz="1200" b="1" dirty="0">
                <a:solidFill>
                  <a:srgbClr val="DC2626"/>
                </a:solidFill>
              </a:rPr>
              <a:t>Covering 10× her sanctioned caseload</a:t>
            </a:r>
            <a:endParaRPr lang="en-US" sz="1200" dirty="0"/>
          </a:p>
        </p:txBody>
      </p:sp>
      <p:sp>
        <p:nvSpPr>
          <p:cNvPr id="9" name="Text 7"/>
          <p:cNvSpPr/>
          <p:nvPr/>
        </p:nvSpPr>
        <p:spPr>
          <a:xfrm>
            <a:off x="4663440" y="365760"/>
            <a:ext cx="4114800" cy="365760"/>
          </a:xfrm>
          <a:prstGeom prst="rect">
            <a:avLst/>
          </a:prstGeom>
          <a:noFill/>
          <a:ln/>
        </p:spPr>
        <p:txBody>
          <a:bodyPr wrap="square" lIns="0" tIns="0" rIns="0" bIns="0" rtlCol="0" anchor="ctr"/>
          <a:lstStyle/>
          <a:p>
            <a:pPr marL="0" indent="0">
              <a:buNone/>
            </a:pPr>
            <a:r>
              <a:rPr lang="en-US" sz="2200" b="1" dirty="0">
                <a:solidFill>
                  <a:srgbClr val="0F2044"/>
                </a:solidFill>
              </a:rPr>
              <a:t>This is not one person.</a:t>
            </a:r>
            <a:endParaRPr lang="en-US" sz="2200" dirty="0"/>
          </a:p>
        </p:txBody>
      </p:sp>
      <p:sp>
        <p:nvSpPr>
          <p:cNvPr id="10" name="Text 8"/>
          <p:cNvSpPr/>
          <p:nvPr/>
        </p:nvSpPr>
        <p:spPr>
          <a:xfrm>
            <a:off x="4663440" y="749808"/>
            <a:ext cx="4114800" cy="320040"/>
          </a:xfrm>
          <a:prstGeom prst="rect">
            <a:avLst/>
          </a:prstGeom>
          <a:noFill/>
          <a:ln/>
        </p:spPr>
        <p:txBody>
          <a:bodyPr wrap="square" lIns="0" tIns="0" rIns="0" bIns="0" rtlCol="0" anchor="ctr"/>
          <a:lstStyle/>
          <a:p>
            <a:pPr marL="0" indent="0">
              <a:buNone/>
            </a:pPr>
            <a:r>
              <a:rPr lang="en-US" sz="1300" dirty="0">
                <a:solidFill>
                  <a:srgbClr val="0D7A6F"/>
                </a:solidFill>
              </a:rPr>
              <a:t>This is India's entire rural health backbone.</a:t>
            </a:r>
            <a:endParaRPr lang="en-US" sz="1300" dirty="0"/>
          </a:p>
        </p:txBody>
      </p:sp>
      <p:sp>
        <p:nvSpPr>
          <p:cNvPr id="11" name="Text 9"/>
          <p:cNvSpPr/>
          <p:nvPr/>
        </p:nvSpPr>
        <p:spPr>
          <a:xfrm>
            <a:off x="4663440" y="1188720"/>
            <a:ext cx="1645920" cy="640080"/>
          </a:xfrm>
          <a:prstGeom prst="rect">
            <a:avLst/>
          </a:prstGeom>
          <a:noFill/>
          <a:ln/>
        </p:spPr>
        <p:txBody>
          <a:bodyPr wrap="square" lIns="0" tIns="0" rIns="0" bIns="0" rtlCol="0" anchor="ctr"/>
          <a:lstStyle/>
          <a:p>
            <a:pPr marL="0" indent="0">
              <a:buNone/>
            </a:pPr>
            <a:r>
              <a:rPr lang="en-US" sz="3400" b="1" dirty="0">
                <a:solidFill>
                  <a:srgbClr val="0F2044"/>
                </a:solidFill>
              </a:rPr>
              <a:t>980,000</a:t>
            </a:r>
            <a:endParaRPr lang="en-US" sz="3400" dirty="0"/>
          </a:p>
        </p:txBody>
      </p:sp>
      <p:sp>
        <p:nvSpPr>
          <p:cNvPr id="12" name="Text 10"/>
          <p:cNvSpPr/>
          <p:nvPr/>
        </p:nvSpPr>
        <p:spPr>
          <a:xfrm>
            <a:off x="6492240" y="1371600"/>
            <a:ext cx="2286000" cy="365760"/>
          </a:xfrm>
          <a:prstGeom prst="rect">
            <a:avLst/>
          </a:prstGeom>
          <a:noFill/>
          <a:ln/>
        </p:spPr>
        <p:txBody>
          <a:bodyPr wrap="square" lIns="0" tIns="0" rIns="0" bIns="0" rtlCol="0" anchor="ctr"/>
          <a:lstStyle/>
          <a:p>
            <a:pPr marL="0" indent="0">
              <a:buNone/>
            </a:pPr>
            <a:r>
              <a:rPr lang="en-US" sz="1200" dirty="0">
                <a:solidFill>
                  <a:srgbClr val="6B7280"/>
                </a:solidFill>
              </a:rPr>
              <a:t>ASHA &amp; ANM workers nationally</a:t>
            </a:r>
            <a:endParaRPr lang="en-US" sz="1200" dirty="0"/>
          </a:p>
        </p:txBody>
      </p:sp>
      <p:sp>
        <p:nvSpPr>
          <p:cNvPr id="13" name="Shape 11"/>
          <p:cNvSpPr/>
          <p:nvPr/>
        </p:nvSpPr>
        <p:spPr>
          <a:xfrm>
            <a:off x="4663440" y="1965960"/>
            <a:ext cx="3840480" cy="18288"/>
          </a:xfrm>
          <a:prstGeom prst="rect">
            <a:avLst/>
          </a:prstGeom>
          <a:solidFill>
            <a:srgbClr val="E0F5F3"/>
          </a:solidFill>
          <a:ln/>
        </p:spPr>
      </p:sp>
      <p:sp>
        <p:nvSpPr>
          <p:cNvPr id="14" name="Text 12"/>
          <p:cNvSpPr/>
          <p:nvPr/>
        </p:nvSpPr>
        <p:spPr>
          <a:xfrm>
            <a:off x="4663440" y="2103120"/>
            <a:ext cx="1645920" cy="640080"/>
          </a:xfrm>
          <a:prstGeom prst="rect">
            <a:avLst/>
          </a:prstGeom>
          <a:noFill/>
          <a:ln/>
        </p:spPr>
        <p:txBody>
          <a:bodyPr wrap="square" lIns="0" tIns="0" rIns="0" bIns="0" rtlCol="0" anchor="ctr"/>
          <a:lstStyle/>
          <a:p>
            <a:pPr marL="0" indent="0">
              <a:buNone/>
            </a:pPr>
            <a:r>
              <a:rPr lang="en-US" sz="2000" b="1" dirty="0">
                <a:solidFill>
                  <a:srgbClr val="DC2626"/>
                </a:solidFill>
              </a:rPr>
              <a:t>~</a:t>
            </a:r>
            <a:r>
              <a:rPr lang="en-US" sz="3400" b="1" dirty="0">
                <a:solidFill>
                  <a:srgbClr val="DC2626"/>
                </a:solidFill>
              </a:rPr>
              <a:t>20%</a:t>
            </a:r>
            <a:endParaRPr lang="en-US" sz="3400" dirty="0"/>
          </a:p>
        </p:txBody>
      </p:sp>
      <p:sp>
        <p:nvSpPr>
          <p:cNvPr id="15" name="Text 13"/>
          <p:cNvSpPr/>
          <p:nvPr/>
        </p:nvSpPr>
        <p:spPr>
          <a:xfrm>
            <a:off x="6492240" y="2286000"/>
            <a:ext cx="2286000" cy="365760"/>
          </a:xfrm>
          <a:prstGeom prst="rect">
            <a:avLst/>
          </a:prstGeom>
          <a:noFill/>
          <a:ln/>
        </p:spPr>
        <p:txBody>
          <a:bodyPr wrap="square" lIns="0" tIns="0" rIns="0" bIns="0" rtlCol="0" anchor="ctr"/>
          <a:lstStyle/>
          <a:p>
            <a:pPr marL="0" indent="0">
              <a:buNone/>
            </a:pPr>
            <a:r>
              <a:rPr lang="en-US" sz="1200" dirty="0">
                <a:solidFill>
                  <a:srgbClr val="6B7280"/>
                </a:solidFill>
              </a:rPr>
              <a:t>functional staffing vs guideline</a:t>
            </a:r>
            <a:endParaRPr lang="en-US" sz="1200" dirty="0"/>
          </a:p>
        </p:txBody>
      </p:sp>
      <p:sp>
        <p:nvSpPr>
          <p:cNvPr id="16" name="Shape 14"/>
          <p:cNvSpPr/>
          <p:nvPr/>
        </p:nvSpPr>
        <p:spPr>
          <a:xfrm>
            <a:off x="4663440" y="2880360"/>
            <a:ext cx="3840480" cy="18288"/>
          </a:xfrm>
          <a:prstGeom prst="rect">
            <a:avLst/>
          </a:prstGeom>
          <a:solidFill>
            <a:srgbClr val="E0F5F3"/>
          </a:solidFill>
          <a:ln/>
        </p:spPr>
      </p:sp>
      <p:sp>
        <p:nvSpPr>
          <p:cNvPr id="17" name="Text 15"/>
          <p:cNvSpPr/>
          <p:nvPr/>
        </p:nvSpPr>
        <p:spPr>
          <a:xfrm>
            <a:off x="4663440" y="3017520"/>
            <a:ext cx="1645920" cy="640080"/>
          </a:xfrm>
          <a:prstGeom prst="rect">
            <a:avLst/>
          </a:prstGeom>
          <a:noFill/>
          <a:ln/>
        </p:spPr>
        <p:txBody>
          <a:bodyPr wrap="square" lIns="0" tIns="0" rIns="0" bIns="0" rtlCol="0" anchor="ctr"/>
          <a:lstStyle/>
          <a:p>
            <a:pPr marL="0" indent="0">
              <a:buNone/>
            </a:pPr>
            <a:r>
              <a:rPr lang="en-US" sz="3400" b="1" dirty="0">
                <a:solidFill>
                  <a:srgbClr val="0F2044"/>
                </a:solidFill>
              </a:rPr>
              <a:t>0</a:t>
            </a:r>
            <a:endParaRPr lang="en-US" sz="3400" dirty="0"/>
          </a:p>
        </p:txBody>
      </p:sp>
      <p:sp>
        <p:nvSpPr>
          <p:cNvPr id="18" name="Text 16"/>
          <p:cNvSpPr/>
          <p:nvPr/>
        </p:nvSpPr>
        <p:spPr>
          <a:xfrm>
            <a:off x="6492240" y="3108960"/>
            <a:ext cx="2286000" cy="457200"/>
          </a:xfrm>
          <a:prstGeom prst="rect">
            <a:avLst/>
          </a:prstGeom>
          <a:noFill/>
          <a:ln/>
        </p:spPr>
        <p:txBody>
          <a:bodyPr wrap="square" lIns="0" tIns="0" rIns="0" bIns="0" rtlCol="0" anchor="ctr"/>
          <a:lstStyle/>
          <a:p>
            <a:pPr marL="0" indent="0">
              <a:buNone/>
            </a:pPr>
            <a:r>
              <a:rPr lang="en-US" sz="1200" dirty="0">
                <a:solidFill>
                  <a:srgbClr val="6B7280"/>
                </a:solidFill>
              </a:rPr>
              <a:t>tools that help her know who to see first</a:t>
            </a:r>
            <a:endParaRPr lang="en-US" sz="1200" dirty="0"/>
          </a:p>
        </p:txBody>
      </p:sp>
      <p:sp>
        <p:nvSpPr>
          <p:cNvPr id="19" name="Shape 17"/>
          <p:cNvSpPr/>
          <p:nvPr/>
        </p:nvSpPr>
        <p:spPr>
          <a:xfrm>
            <a:off x="4663440" y="3886200"/>
            <a:ext cx="4114800" cy="822960"/>
          </a:xfrm>
          <a:prstGeom prst="rect">
            <a:avLst/>
          </a:prstGeom>
          <a:solidFill>
            <a:srgbClr val="E0F5F3"/>
          </a:solidFill>
          <a:ln/>
        </p:spPr>
      </p:sp>
      <p:sp>
        <p:nvSpPr>
          <p:cNvPr id="20" name="Text 18"/>
          <p:cNvSpPr/>
          <p:nvPr/>
        </p:nvSpPr>
        <p:spPr>
          <a:xfrm>
            <a:off x="4663440" y="3886200"/>
            <a:ext cx="4114800" cy="822960"/>
          </a:xfrm>
          <a:prstGeom prst="rect">
            <a:avLst/>
          </a:prstGeom>
          <a:noFill/>
          <a:ln/>
        </p:spPr>
        <p:txBody>
          <a:bodyPr wrap="square" lIns="0" tIns="0" rIns="0" bIns="0" rtlCol="0" anchor="ctr"/>
          <a:lstStyle/>
          <a:p>
            <a:pPr marL="0" indent="0" algn="ctr">
              <a:buNone/>
            </a:pPr>
            <a:r>
              <a:rPr lang="en-US" sz="1200" b="1" dirty="0">
                <a:solidFill>
                  <a:srgbClr val="0F2044"/>
                </a:solidFill>
              </a:rPr>
              <a:t>Sahayak AI changes exactly one thing:</a:t>
            </a:r>
            <a:endParaRPr lang="en-US" sz="1200" dirty="0"/>
          </a:p>
          <a:p>
            <a:pPr marL="0" indent="0" algn="ctr">
              <a:buNone/>
            </a:pPr>
            <a:r>
              <a:rPr lang="en-US" sz="1200" b="1" dirty="0">
                <a:solidFill>
                  <a:srgbClr val="0F2044"/>
                </a:solidFill>
              </a:rPr>
              <a:t>She speaks. We handle the rest.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7315200" cy="457200"/>
          </a:xfrm>
          <a:prstGeom prst="rect">
            <a:avLst/>
          </a:prstGeom>
          <a:noFill/>
          <a:ln/>
        </p:spPr>
        <p:txBody>
          <a:bodyPr wrap="square" lIns="0" tIns="0" rIns="0" bIns="0" rtlCol="0" anchor="ctr"/>
          <a:lstStyle/>
          <a:p>
            <a:pPr marL="0" indent="0">
              <a:buNone/>
            </a:pPr>
            <a:r>
              <a:rPr lang="en-US" sz="2800" b="1" dirty="0">
                <a:solidFill>
                  <a:srgbClr val="0F2044"/>
                </a:solidFill>
              </a:rPr>
              <a:t>Sahayak AI — How It Works</a:t>
            </a:r>
            <a:endParaRPr lang="en-US" sz="2800" dirty="0"/>
          </a:p>
        </p:txBody>
      </p:sp>
      <p:sp>
        <p:nvSpPr>
          <p:cNvPr id="3" name="Text 1"/>
          <p:cNvSpPr/>
          <p:nvPr/>
        </p:nvSpPr>
        <p:spPr>
          <a:xfrm>
            <a:off x="365760" y="777240"/>
            <a:ext cx="7315200" cy="365760"/>
          </a:xfrm>
          <a:prstGeom prst="rect">
            <a:avLst/>
          </a:prstGeom>
          <a:noFill/>
          <a:ln/>
        </p:spPr>
        <p:txBody>
          <a:bodyPr wrap="square" lIns="0" tIns="0" rIns="0" bIns="0" rtlCol="0" anchor="ctr"/>
          <a:lstStyle/>
          <a:p>
            <a:pPr marL="0" indent="0">
              <a:buNone/>
            </a:pPr>
            <a:r>
              <a:rPr lang="en-US" sz="1400" dirty="0">
                <a:solidFill>
                  <a:srgbClr val="0D7A6F"/>
                </a:solidFill>
              </a:rPr>
              <a:t>One 15-second voice note. Five AI stages. One prioritized action plan.</a:t>
            </a:r>
            <a:endParaRPr lang="en-US" sz="1400" dirty="0"/>
          </a:p>
        </p:txBody>
      </p:sp>
      <p:sp>
        <p:nvSpPr>
          <p:cNvPr id="4" name="Shape 2"/>
          <p:cNvSpPr/>
          <p:nvPr/>
        </p:nvSpPr>
        <p:spPr>
          <a:xfrm>
            <a:off x="731520" y="1234440"/>
            <a:ext cx="594360" cy="594360"/>
          </a:xfrm>
          <a:prstGeom prst="ellipse">
            <a:avLst/>
          </a:prstGeom>
          <a:solidFill>
            <a:srgbClr val="0D7A6F"/>
          </a:solidFill>
          <a:ln/>
        </p:spPr>
      </p:sp>
      <p:sp>
        <p:nvSpPr>
          <p:cNvPr id="5" name="Text 3"/>
          <p:cNvSpPr/>
          <p:nvPr/>
        </p:nvSpPr>
        <p:spPr>
          <a:xfrm>
            <a:off x="731520" y="1234440"/>
            <a:ext cx="594360" cy="594360"/>
          </a:xfrm>
          <a:prstGeom prst="rect">
            <a:avLst/>
          </a:prstGeom>
          <a:noFill/>
          <a:ln/>
        </p:spPr>
        <p:txBody>
          <a:bodyPr wrap="square" lIns="0" tIns="0" rIns="0" bIns="0" rtlCol="0" anchor="ctr"/>
          <a:lstStyle/>
          <a:p>
            <a:pPr marL="0" indent="0" algn="ctr">
              <a:buNone/>
            </a:pPr>
            <a:r>
              <a:rPr lang="en-US" sz="1000" b="1" dirty="0">
                <a:solidFill>
                  <a:srgbClr val="FFFFFF"/>
                </a:solidFill>
              </a:rPr>
              <a:t>🎤</a:t>
            </a:r>
            <a:endParaRPr lang="en-US" sz="1000" dirty="0"/>
          </a:p>
        </p:txBody>
      </p:sp>
      <p:sp>
        <p:nvSpPr>
          <p:cNvPr id="6" name="Shape 4"/>
          <p:cNvSpPr/>
          <p:nvPr/>
        </p:nvSpPr>
        <p:spPr>
          <a:xfrm>
            <a:off x="320040" y="1691640"/>
            <a:ext cx="1417320" cy="1965960"/>
          </a:xfrm>
          <a:prstGeom prst="rect">
            <a:avLst/>
          </a:prstGeom>
          <a:solidFill>
            <a:srgbClr val="0F2044"/>
          </a:solidFill>
          <a:ln/>
        </p:spPr>
      </p:sp>
      <p:sp>
        <p:nvSpPr>
          <p:cNvPr id="7" name="Text 5"/>
          <p:cNvSpPr/>
          <p:nvPr/>
        </p:nvSpPr>
        <p:spPr>
          <a:xfrm>
            <a:off x="320040" y="1783080"/>
            <a:ext cx="1417320" cy="320040"/>
          </a:xfrm>
          <a:prstGeom prst="rect">
            <a:avLst/>
          </a:prstGeom>
          <a:noFill/>
          <a:ln/>
        </p:spPr>
        <p:txBody>
          <a:bodyPr wrap="square" lIns="0" tIns="0" rIns="0" bIns="0" rtlCol="0" anchor="ctr"/>
          <a:lstStyle/>
          <a:p>
            <a:pPr marL="0" indent="0" algn="ctr">
              <a:buNone/>
            </a:pPr>
            <a:r>
              <a:rPr lang="en-US" sz="2000" b="1" dirty="0">
                <a:solidFill>
                  <a:srgbClr val="13B5A6"/>
                </a:solidFill>
              </a:rPr>
              <a:t>01</a:t>
            </a:r>
            <a:endParaRPr lang="en-US" sz="2000" dirty="0"/>
          </a:p>
        </p:txBody>
      </p:sp>
      <p:sp>
        <p:nvSpPr>
          <p:cNvPr id="8" name="Text 6"/>
          <p:cNvSpPr/>
          <p:nvPr/>
        </p:nvSpPr>
        <p:spPr>
          <a:xfrm>
            <a:off x="320040" y="2103120"/>
            <a:ext cx="1417320" cy="274320"/>
          </a:xfrm>
          <a:prstGeom prst="rect">
            <a:avLst/>
          </a:prstGeom>
          <a:noFill/>
          <a:ln/>
        </p:spPr>
        <p:txBody>
          <a:bodyPr wrap="square" lIns="0" tIns="0" rIns="0" bIns="0" rtlCol="0" anchor="ctr"/>
          <a:lstStyle/>
          <a:p>
            <a:pPr marL="0" indent="0" algn="ctr">
              <a:buNone/>
            </a:pPr>
            <a:r>
              <a:rPr lang="en-US" sz="1200" b="1" dirty="0">
                <a:solidFill>
                  <a:srgbClr val="FFFFFF"/>
                </a:solidFill>
              </a:rPr>
              <a:t>SPEAK</a:t>
            </a:r>
            <a:endParaRPr lang="en-US" sz="1200" dirty="0"/>
          </a:p>
        </p:txBody>
      </p:sp>
      <p:sp>
        <p:nvSpPr>
          <p:cNvPr id="9" name="Text 7"/>
          <p:cNvSpPr/>
          <p:nvPr/>
        </p:nvSpPr>
        <p:spPr>
          <a:xfrm>
            <a:off x="393192" y="2423160"/>
            <a:ext cx="1271016" cy="1097280"/>
          </a:xfrm>
          <a:prstGeom prst="rect">
            <a:avLst/>
          </a:prstGeom>
          <a:noFill/>
          <a:ln/>
        </p:spPr>
        <p:txBody>
          <a:bodyPr wrap="square" lIns="0" tIns="0" rIns="0" bIns="0" rtlCol="0" anchor="ctr"/>
          <a:lstStyle/>
          <a:p>
            <a:pPr marL="0" indent="0" algn="ctr">
              <a:buNone/>
            </a:pPr>
            <a:r>
              <a:rPr lang="en-US" sz="950" dirty="0">
                <a:solidFill>
                  <a:srgbClr val="FFFFFF"/>
                </a:solidFill>
              </a:rPr>
              <a:t>Worker speaks in her own regional language</a:t>
            </a:r>
            <a:endParaRPr lang="en-US" sz="950" dirty="0"/>
          </a:p>
        </p:txBody>
      </p:sp>
      <p:sp>
        <p:nvSpPr>
          <p:cNvPr id="10" name="Text 8"/>
          <p:cNvSpPr/>
          <p:nvPr/>
        </p:nvSpPr>
        <p:spPr>
          <a:xfrm>
            <a:off x="1764792" y="2377440"/>
            <a:ext cx="137160" cy="365760"/>
          </a:xfrm>
          <a:prstGeom prst="rect">
            <a:avLst/>
          </a:prstGeom>
          <a:noFill/>
          <a:ln/>
        </p:spPr>
        <p:txBody>
          <a:bodyPr wrap="square" rtlCol="0" anchor="ctr"/>
          <a:lstStyle/>
          <a:p>
            <a:pPr marL="0" indent="0" algn="ctr">
              <a:buNone/>
            </a:pPr>
            <a:r>
              <a:rPr lang="en-US" sz="1800" b="1" dirty="0">
                <a:solidFill>
                  <a:srgbClr val="0D7A6F"/>
                </a:solidFill>
              </a:rPr>
              <a:t>→</a:t>
            </a:r>
            <a:endParaRPr lang="en-US" sz="1800" dirty="0"/>
          </a:p>
        </p:txBody>
      </p:sp>
      <p:sp>
        <p:nvSpPr>
          <p:cNvPr id="11" name="Shape 9"/>
          <p:cNvSpPr/>
          <p:nvPr/>
        </p:nvSpPr>
        <p:spPr>
          <a:xfrm>
            <a:off x="2331720" y="1234440"/>
            <a:ext cx="594360" cy="594360"/>
          </a:xfrm>
          <a:prstGeom prst="ellipse">
            <a:avLst/>
          </a:prstGeom>
          <a:solidFill>
            <a:srgbClr val="0D7A6F"/>
          </a:solidFill>
          <a:ln/>
        </p:spPr>
      </p:sp>
      <p:sp>
        <p:nvSpPr>
          <p:cNvPr id="12" name="Text 10"/>
          <p:cNvSpPr/>
          <p:nvPr/>
        </p:nvSpPr>
        <p:spPr>
          <a:xfrm>
            <a:off x="2331720" y="1234440"/>
            <a:ext cx="594360" cy="594360"/>
          </a:xfrm>
          <a:prstGeom prst="rect">
            <a:avLst/>
          </a:prstGeom>
          <a:noFill/>
          <a:ln/>
        </p:spPr>
        <p:txBody>
          <a:bodyPr wrap="square" lIns="0" tIns="0" rIns="0" bIns="0" rtlCol="0" anchor="ctr"/>
          <a:lstStyle/>
          <a:p>
            <a:pPr marL="0" indent="0" algn="ctr">
              <a:buNone/>
            </a:pPr>
            <a:r>
              <a:rPr lang="en-US" sz="1000" b="1" dirty="0">
                <a:solidFill>
                  <a:srgbClr val="FFFFFF"/>
                </a:solidFill>
              </a:rPr>
              <a:t>⚙</a:t>
            </a:r>
            <a:endParaRPr lang="en-US" sz="1000" dirty="0"/>
          </a:p>
        </p:txBody>
      </p:sp>
      <p:sp>
        <p:nvSpPr>
          <p:cNvPr id="13" name="Shape 11"/>
          <p:cNvSpPr/>
          <p:nvPr/>
        </p:nvSpPr>
        <p:spPr>
          <a:xfrm>
            <a:off x="1920240" y="1691640"/>
            <a:ext cx="1417320" cy="1965960"/>
          </a:xfrm>
          <a:prstGeom prst="rect">
            <a:avLst/>
          </a:prstGeom>
          <a:solidFill>
            <a:srgbClr val="1A3461"/>
          </a:solidFill>
          <a:ln/>
        </p:spPr>
      </p:sp>
      <p:sp>
        <p:nvSpPr>
          <p:cNvPr id="14" name="Text 12"/>
          <p:cNvSpPr/>
          <p:nvPr/>
        </p:nvSpPr>
        <p:spPr>
          <a:xfrm>
            <a:off x="1920240" y="1783080"/>
            <a:ext cx="1417320" cy="320040"/>
          </a:xfrm>
          <a:prstGeom prst="rect">
            <a:avLst/>
          </a:prstGeom>
          <a:noFill/>
          <a:ln/>
        </p:spPr>
        <p:txBody>
          <a:bodyPr wrap="square" lIns="0" tIns="0" rIns="0" bIns="0" rtlCol="0" anchor="ctr"/>
          <a:lstStyle/>
          <a:p>
            <a:pPr marL="0" indent="0" algn="ctr">
              <a:buNone/>
            </a:pPr>
            <a:r>
              <a:rPr lang="en-US" sz="2000" b="1" dirty="0">
                <a:solidFill>
                  <a:srgbClr val="13B5A6"/>
                </a:solidFill>
              </a:rPr>
              <a:t>02</a:t>
            </a:r>
            <a:endParaRPr lang="en-US" sz="2000" dirty="0"/>
          </a:p>
        </p:txBody>
      </p:sp>
      <p:sp>
        <p:nvSpPr>
          <p:cNvPr id="15" name="Text 13"/>
          <p:cNvSpPr/>
          <p:nvPr/>
        </p:nvSpPr>
        <p:spPr>
          <a:xfrm>
            <a:off x="1920240" y="2103120"/>
            <a:ext cx="1417320" cy="274320"/>
          </a:xfrm>
          <a:prstGeom prst="rect">
            <a:avLst/>
          </a:prstGeom>
          <a:noFill/>
          <a:ln/>
        </p:spPr>
        <p:txBody>
          <a:bodyPr wrap="square" lIns="0" tIns="0" rIns="0" bIns="0" rtlCol="0" anchor="ctr"/>
          <a:lstStyle/>
          <a:p>
            <a:pPr marL="0" indent="0" algn="ctr">
              <a:buNone/>
            </a:pPr>
            <a:r>
              <a:rPr lang="en-US" sz="1200" b="1" dirty="0">
                <a:solidFill>
                  <a:srgbClr val="FFFFFF"/>
                </a:solidFill>
              </a:rPr>
              <a:t>EXTRACT</a:t>
            </a:r>
            <a:endParaRPr lang="en-US" sz="1200" dirty="0"/>
          </a:p>
        </p:txBody>
      </p:sp>
      <p:sp>
        <p:nvSpPr>
          <p:cNvPr id="16" name="Text 14"/>
          <p:cNvSpPr/>
          <p:nvPr/>
        </p:nvSpPr>
        <p:spPr>
          <a:xfrm>
            <a:off x="1993392" y="2423160"/>
            <a:ext cx="1271016" cy="1097280"/>
          </a:xfrm>
          <a:prstGeom prst="rect">
            <a:avLst/>
          </a:prstGeom>
          <a:noFill/>
          <a:ln/>
        </p:spPr>
        <p:txBody>
          <a:bodyPr wrap="square" lIns="0" tIns="0" rIns="0" bIns="0" rtlCol="0" anchor="ctr"/>
          <a:lstStyle/>
          <a:p>
            <a:pPr marL="0" indent="0" algn="ctr">
              <a:buNone/>
            </a:pPr>
            <a:r>
              <a:rPr lang="en-US" sz="950" dirty="0">
                <a:solidFill>
                  <a:srgbClr val="FFFFFF"/>
                </a:solidFill>
              </a:rPr>
              <a:t>AI parses transcript into structured health data</a:t>
            </a:r>
            <a:endParaRPr lang="en-US" sz="950" dirty="0"/>
          </a:p>
        </p:txBody>
      </p:sp>
      <p:sp>
        <p:nvSpPr>
          <p:cNvPr id="17" name="Text 15"/>
          <p:cNvSpPr/>
          <p:nvPr/>
        </p:nvSpPr>
        <p:spPr>
          <a:xfrm>
            <a:off x="3364992" y="2377440"/>
            <a:ext cx="137160" cy="365760"/>
          </a:xfrm>
          <a:prstGeom prst="rect">
            <a:avLst/>
          </a:prstGeom>
          <a:noFill/>
          <a:ln/>
        </p:spPr>
        <p:txBody>
          <a:bodyPr wrap="square" rtlCol="0" anchor="ctr"/>
          <a:lstStyle/>
          <a:p>
            <a:pPr marL="0" indent="0" algn="ctr">
              <a:buNone/>
            </a:pPr>
            <a:r>
              <a:rPr lang="en-US" sz="1800" b="1" dirty="0">
                <a:solidFill>
                  <a:srgbClr val="0D7A6F"/>
                </a:solidFill>
              </a:rPr>
              <a:t>→</a:t>
            </a:r>
            <a:endParaRPr lang="en-US" sz="1800" dirty="0"/>
          </a:p>
        </p:txBody>
      </p:sp>
      <p:sp>
        <p:nvSpPr>
          <p:cNvPr id="18" name="Shape 16"/>
          <p:cNvSpPr/>
          <p:nvPr/>
        </p:nvSpPr>
        <p:spPr>
          <a:xfrm>
            <a:off x="3931920" y="1234440"/>
            <a:ext cx="594360" cy="594360"/>
          </a:xfrm>
          <a:prstGeom prst="ellipse">
            <a:avLst/>
          </a:prstGeom>
          <a:solidFill>
            <a:srgbClr val="0D7A6F"/>
          </a:solidFill>
          <a:ln/>
        </p:spPr>
      </p:sp>
      <p:sp>
        <p:nvSpPr>
          <p:cNvPr id="19" name="Text 17"/>
          <p:cNvSpPr/>
          <p:nvPr/>
        </p:nvSpPr>
        <p:spPr>
          <a:xfrm>
            <a:off x="3931920" y="1234440"/>
            <a:ext cx="594360" cy="594360"/>
          </a:xfrm>
          <a:prstGeom prst="rect">
            <a:avLst/>
          </a:prstGeom>
          <a:noFill/>
          <a:ln/>
        </p:spPr>
        <p:txBody>
          <a:bodyPr wrap="square" lIns="0" tIns="0" rIns="0" bIns="0" rtlCol="0" anchor="ctr"/>
          <a:lstStyle/>
          <a:p>
            <a:pPr marL="0" indent="0" algn="ctr">
              <a:buNone/>
            </a:pPr>
            <a:r>
              <a:rPr lang="en-US" sz="1000" b="1" dirty="0">
                <a:solidFill>
                  <a:srgbClr val="FFFFFF"/>
                </a:solidFill>
              </a:rPr>
              <a:t>⚡</a:t>
            </a:r>
            <a:endParaRPr lang="en-US" sz="1000" dirty="0"/>
          </a:p>
        </p:txBody>
      </p:sp>
      <p:sp>
        <p:nvSpPr>
          <p:cNvPr id="20" name="Shape 18"/>
          <p:cNvSpPr/>
          <p:nvPr/>
        </p:nvSpPr>
        <p:spPr>
          <a:xfrm>
            <a:off x="3520440" y="1691640"/>
            <a:ext cx="1417320" cy="1965960"/>
          </a:xfrm>
          <a:prstGeom prst="rect">
            <a:avLst/>
          </a:prstGeom>
          <a:solidFill>
            <a:srgbClr val="0D7A6F"/>
          </a:solidFill>
          <a:ln/>
        </p:spPr>
      </p:sp>
      <p:sp>
        <p:nvSpPr>
          <p:cNvPr id="21" name="Text 19"/>
          <p:cNvSpPr/>
          <p:nvPr/>
        </p:nvSpPr>
        <p:spPr>
          <a:xfrm>
            <a:off x="3520440" y="1783080"/>
            <a:ext cx="1417320" cy="320040"/>
          </a:xfrm>
          <a:prstGeom prst="rect">
            <a:avLst/>
          </a:prstGeom>
          <a:noFill/>
          <a:ln/>
        </p:spPr>
        <p:txBody>
          <a:bodyPr wrap="square" lIns="0" tIns="0" rIns="0" bIns="0" rtlCol="0" anchor="ctr"/>
          <a:lstStyle/>
          <a:p>
            <a:pPr marL="0" indent="0" algn="ctr">
              <a:buNone/>
            </a:pPr>
            <a:r>
              <a:rPr lang="en-US" sz="2000" b="1" dirty="0">
                <a:solidFill>
                  <a:srgbClr val="13B5A6"/>
                </a:solidFill>
              </a:rPr>
              <a:t>03</a:t>
            </a:r>
            <a:endParaRPr lang="en-US" sz="2000" dirty="0"/>
          </a:p>
        </p:txBody>
      </p:sp>
      <p:sp>
        <p:nvSpPr>
          <p:cNvPr id="22" name="Text 20"/>
          <p:cNvSpPr/>
          <p:nvPr/>
        </p:nvSpPr>
        <p:spPr>
          <a:xfrm>
            <a:off x="3520440" y="2103120"/>
            <a:ext cx="1417320" cy="274320"/>
          </a:xfrm>
          <a:prstGeom prst="rect">
            <a:avLst/>
          </a:prstGeom>
          <a:noFill/>
          <a:ln/>
        </p:spPr>
        <p:txBody>
          <a:bodyPr wrap="square" lIns="0" tIns="0" rIns="0" bIns="0" rtlCol="0" anchor="ctr"/>
          <a:lstStyle/>
          <a:p>
            <a:pPr marL="0" indent="0" algn="ctr">
              <a:buNone/>
            </a:pPr>
            <a:r>
              <a:rPr lang="en-US" sz="1200" b="1" dirty="0">
                <a:solidFill>
                  <a:srgbClr val="FFFFFF"/>
                </a:solidFill>
              </a:rPr>
              <a:t>SCORE RISK</a:t>
            </a:r>
            <a:endParaRPr lang="en-US" sz="1200" dirty="0"/>
          </a:p>
        </p:txBody>
      </p:sp>
      <p:sp>
        <p:nvSpPr>
          <p:cNvPr id="23" name="Text 21"/>
          <p:cNvSpPr/>
          <p:nvPr/>
        </p:nvSpPr>
        <p:spPr>
          <a:xfrm>
            <a:off x="3593592" y="2423160"/>
            <a:ext cx="1271016" cy="1097280"/>
          </a:xfrm>
          <a:prstGeom prst="rect">
            <a:avLst/>
          </a:prstGeom>
          <a:noFill/>
          <a:ln/>
        </p:spPr>
        <p:txBody>
          <a:bodyPr wrap="square" lIns="0" tIns="0" rIns="0" bIns="0" rtlCol="0" anchor="ctr"/>
          <a:lstStyle/>
          <a:p>
            <a:pPr marL="0" indent="0" algn="ctr">
              <a:buNone/>
            </a:pPr>
            <a:r>
              <a:rPr lang="en-US" sz="950" dirty="0">
                <a:solidFill>
                  <a:srgbClr val="FFFFFF"/>
                </a:solidFill>
              </a:rPr>
              <a:t>Critical / High / Medium / Low assigned instantly</a:t>
            </a:r>
            <a:endParaRPr lang="en-US" sz="950" dirty="0"/>
          </a:p>
        </p:txBody>
      </p:sp>
      <p:sp>
        <p:nvSpPr>
          <p:cNvPr id="24" name="Text 22"/>
          <p:cNvSpPr/>
          <p:nvPr/>
        </p:nvSpPr>
        <p:spPr>
          <a:xfrm>
            <a:off x="4965192" y="2377440"/>
            <a:ext cx="137160" cy="365760"/>
          </a:xfrm>
          <a:prstGeom prst="rect">
            <a:avLst/>
          </a:prstGeom>
          <a:noFill/>
          <a:ln/>
        </p:spPr>
        <p:txBody>
          <a:bodyPr wrap="square" rtlCol="0" anchor="ctr"/>
          <a:lstStyle/>
          <a:p>
            <a:pPr marL="0" indent="0" algn="ctr">
              <a:buNone/>
            </a:pPr>
            <a:r>
              <a:rPr lang="en-US" sz="1800" b="1" dirty="0">
                <a:solidFill>
                  <a:srgbClr val="0D7A6F"/>
                </a:solidFill>
              </a:rPr>
              <a:t>→</a:t>
            </a:r>
            <a:endParaRPr lang="en-US" sz="1800" dirty="0"/>
          </a:p>
        </p:txBody>
      </p:sp>
      <p:sp>
        <p:nvSpPr>
          <p:cNvPr id="25" name="Shape 23"/>
          <p:cNvSpPr/>
          <p:nvPr/>
        </p:nvSpPr>
        <p:spPr>
          <a:xfrm>
            <a:off x="5532120" y="1234440"/>
            <a:ext cx="594360" cy="594360"/>
          </a:xfrm>
          <a:prstGeom prst="ellipse">
            <a:avLst/>
          </a:prstGeom>
          <a:solidFill>
            <a:srgbClr val="0D7A6F"/>
          </a:solidFill>
          <a:ln/>
        </p:spPr>
      </p:sp>
      <p:sp>
        <p:nvSpPr>
          <p:cNvPr id="26" name="Text 24"/>
          <p:cNvSpPr/>
          <p:nvPr/>
        </p:nvSpPr>
        <p:spPr>
          <a:xfrm>
            <a:off x="5532120" y="1234440"/>
            <a:ext cx="594360" cy="594360"/>
          </a:xfrm>
          <a:prstGeom prst="rect">
            <a:avLst/>
          </a:prstGeom>
          <a:noFill/>
          <a:ln/>
        </p:spPr>
        <p:txBody>
          <a:bodyPr wrap="square" lIns="0" tIns="0" rIns="0" bIns="0" rtlCol="0" anchor="ctr"/>
          <a:lstStyle/>
          <a:p>
            <a:pPr marL="0" indent="0" algn="ctr">
              <a:buNone/>
            </a:pPr>
            <a:r>
              <a:rPr lang="en-US" sz="1000" b="1" dirty="0">
                <a:solidFill>
                  <a:srgbClr val="FFFFFF"/>
                </a:solidFill>
              </a:rPr>
              <a:t>📝</a:t>
            </a:r>
            <a:endParaRPr lang="en-US" sz="1000" dirty="0"/>
          </a:p>
        </p:txBody>
      </p:sp>
      <p:sp>
        <p:nvSpPr>
          <p:cNvPr id="27" name="Shape 25"/>
          <p:cNvSpPr/>
          <p:nvPr/>
        </p:nvSpPr>
        <p:spPr>
          <a:xfrm>
            <a:off x="5120640" y="1691640"/>
            <a:ext cx="1417320" cy="1965960"/>
          </a:xfrm>
          <a:prstGeom prst="rect">
            <a:avLst/>
          </a:prstGeom>
          <a:solidFill>
            <a:srgbClr val="1A3461"/>
          </a:solidFill>
          <a:ln/>
        </p:spPr>
      </p:sp>
      <p:sp>
        <p:nvSpPr>
          <p:cNvPr id="28" name="Text 26"/>
          <p:cNvSpPr/>
          <p:nvPr/>
        </p:nvSpPr>
        <p:spPr>
          <a:xfrm>
            <a:off x="5120640" y="1783080"/>
            <a:ext cx="1417320" cy="320040"/>
          </a:xfrm>
          <a:prstGeom prst="rect">
            <a:avLst/>
          </a:prstGeom>
          <a:noFill/>
          <a:ln/>
        </p:spPr>
        <p:txBody>
          <a:bodyPr wrap="square" lIns="0" tIns="0" rIns="0" bIns="0" rtlCol="0" anchor="ctr"/>
          <a:lstStyle/>
          <a:p>
            <a:pPr marL="0" indent="0" algn="ctr">
              <a:buNone/>
            </a:pPr>
            <a:r>
              <a:rPr lang="en-US" sz="2000" b="1" dirty="0">
                <a:solidFill>
                  <a:srgbClr val="13B5A6"/>
                </a:solidFill>
              </a:rPr>
              <a:t>04</a:t>
            </a:r>
            <a:endParaRPr lang="en-US" sz="2000" dirty="0"/>
          </a:p>
        </p:txBody>
      </p:sp>
      <p:sp>
        <p:nvSpPr>
          <p:cNvPr id="29" name="Text 27"/>
          <p:cNvSpPr/>
          <p:nvPr/>
        </p:nvSpPr>
        <p:spPr>
          <a:xfrm>
            <a:off x="5120640" y="2103120"/>
            <a:ext cx="1417320" cy="274320"/>
          </a:xfrm>
          <a:prstGeom prst="rect">
            <a:avLst/>
          </a:prstGeom>
          <a:noFill/>
          <a:ln/>
        </p:spPr>
        <p:txBody>
          <a:bodyPr wrap="square" lIns="0" tIns="0" rIns="0" bIns="0" rtlCol="0" anchor="ctr"/>
          <a:lstStyle/>
          <a:p>
            <a:pPr marL="0" indent="0" algn="ctr">
              <a:buNone/>
            </a:pPr>
            <a:r>
              <a:rPr lang="en-US" sz="1200" b="1" dirty="0">
                <a:solidFill>
                  <a:srgbClr val="FFFFFF"/>
                </a:solidFill>
              </a:rPr>
              <a:t>REPORT</a:t>
            </a:r>
            <a:endParaRPr lang="en-US" sz="1200" dirty="0"/>
          </a:p>
        </p:txBody>
      </p:sp>
      <p:sp>
        <p:nvSpPr>
          <p:cNvPr id="30" name="Text 28"/>
          <p:cNvSpPr/>
          <p:nvPr/>
        </p:nvSpPr>
        <p:spPr>
          <a:xfrm>
            <a:off x="5193792" y="2423160"/>
            <a:ext cx="1271016" cy="1097280"/>
          </a:xfrm>
          <a:prstGeom prst="rect">
            <a:avLst/>
          </a:prstGeom>
          <a:noFill/>
          <a:ln/>
        </p:spPr>
        <p:txBody>
          <a:bodyPr wrap="square" lIns="0" tIns="0" rIns="0" bIns="0" rtlCol="0" anchor="ctr"/>
          <a:lstStyle/>
          <a:p>
            <a:pPr marL="0" indent="0" algn="ctr">
              <a:buNone/>
            </a:pPr>
            <a:r>
              <a:rPr lang="en-US" sz="950" dirty="0">
                <a:solidFill>
                  <a:srgbClr val="FFFFFF"/>
                </a:solidFill>
              </a:rPr>
              <a:t>Formal English report generated automatically</a:t>
            </a:r>
            <a:endParaRPr lang="en-US" sz="950" dirty="0"/>
          </a:p>
        </p:txBody>
      </p:sp>
      <p:sp>
        <p:nvSpPr>
          <p:cNvPr id="31" name="Text 29"/>
          <p:cNvSpPr/>
          <p:nvPr/>
        </p:nvSpPr>
        <p:spPr>
          <a:xfrm>
            <a:off x="6565392" y="2377440"/>
            <a:ext cx="137160" cy="365760"/>
          </a:xfrm>
          <a:prstGeom prst="rect">
            <a:avLst/>
          </a:prstGeom>
          <a:noFill/>
          <a:ln/>
        </p:spPr>
        <p:txBody>
          <a:bodyPr wrap="square" rtlCol="0" anchor="ctr"/>
          <a:lstStyle/>
          <a:p>
            <a:pPr marL="0" indent="0" algn="ctr">
              <a:buNone/>
            </a:pPr>
            <a:r>
              <a:rPr lang="en-US" sz="1800" b="1" dirty="0">
                <a:solidFill>
                  <a:srgbClr val="0D7A6F"/>
                </a:solidFill>
              </a:rPr>
              <a:t>→</a:t>
            </a:r>
            <a:endParaRPr lang="en-US" sz="1800" dirty="0"/>
          </a:p>
        </p:txBody>
      </p:sp>
      <p:sp>
        <p:nvSpPr>
          <p:cNvPr id="32" name="Shape 30"/>
          <p:cNvSpPr/>
          <p:nvPr/>
        </p:nvSpPr>
        <p:spPr>
          <a:xfrm>
            <a:off x="7132320" y="1234440"/>
            <a:ext cx="594360" cy="594360"/>
          </a:xfrm>
          <a:prstGeom prst="ellipse">
            <a:avLst/>
          </a:prstGeom>
          <a:solidFill>
            <a:srgbClr val="0D7A6F"/>
          </a:solidFill>
          <a:ln/>
        </p:spPr>
      </p:sp>
      <p:sp>
        <p:nvSpPr>
          <p:cNvPr id="33" name="Text 31"/>
          <p:cNvSpPr/>
          <p:nvPr/>
        </p:nvSpPr>
        <p:spPr>
          <a:xfrm>
            <a:off x="7132320" y="1234440"/>
            <a:ext cx="594360" cy="594360"/>
          </a:xfrm>
          <a:prstGeom prst="rect">
            <a:avLst/>
          </a:prstGeom>
          <a:noFill/>
          <a:ln/>
        </p:spPr>
        <p:txBody>
          <a:bodyPr wrap="square" lIns="0" tIns="0" rIns="0" bIns="0" rtlCol="0" anchor="ctr"/>
          <a:lstStyle/>
          <a:p>
            <a:pPr marL="0" indent="0" algn="ctr">
              <a:buNone/>
            </a:pPr>
            <a:r>
              <a:rPr lang="en-US" sz="1000" b="1" dirty="0">
                <a:solidFill>
                  <a:srgbClr val="FFFFFF"/>
                </a:solidFill>
              </a:rPr>
              <a:t>🔔</a:t>
            </a:r>
            <a:endParaRPr lang="en-US" sz="1000" dirty="0"/>
          </a:p>
        </p:txBody>
      </p:sp>
      <p:sp>
        <p:nvSpPr>
          <p:cNvPr id="34" name="Shape 32"/>
          <p:cNvSpPr/>
          <p:nvPr/>
        </p:nvSpPr>
        <p:spPr>
          <a:xfrm>
            <a:off x="6720840" y="1691640"/>
            <a:ext cx="1417320" cy="1965960"/>
          </a:xfrm>
          <a:prstGeom prst="rect">
            <a:avLst/>
          </a:prstGeom>
          <a:solidFill>
            <a:srgbClr val="0F2044"/>
          </a:solidFill>
          <a:ln/>
        </p:spPr>
      </p:sp>
      <p:sp>
        <p:nvSpPr>
          <p:cNvPr id="35" name="Text 33"/>
          <p:cNvSpPr/>
          <p:nvPr/>
        </p:nvSpPr>
        <p:spPr>
          <a:xfrm>
            <a:off x="6720840" y="1783080"/>
            <a:ext cx="1417320" cy="320040"/>
          </a:xfrm>
          <a:prstGeom prst="rect">
            <a:avLst/>
          </a:prstGeom>
          <a:noFill/>
          <a:ln/>
        </p:spPr>
        <p:txBody>
          <a:bodyPr wrap="square" lIns="0" tIns="0" rIns="0" bIns="0" rtlCol="0" anchor="ctr"/>
          <a:lstStyle/>
          <a:p>
            <a:pPr marL="0" indent="0" algn="ctr">
              <a:buNone/>
            </a:pPr>
            <a:r>
              <a:rPr lang="en-US" sz="2000" b="1" dirty="0">
                <a:solidFill>
                  <a:srgbClr val="13B5A6"/>
                </a:solidFill>
              </a:rPr>
              <a:t>05</a:t>
            </a:r>
            <a:endParaRPr lang="en-US" sz="2000" dirty="0"/>
          </a:p>
        </p:txBody>
      </p:sp>
      <p:sp>
        <p:nvSpPr>
          <p:cNvPr id="36" name="Text 34"/>
          <p:cNvSpPr/>
          <p:nvPr/>
        </p:nvSpPr>
        <p:spPr>
          <a:xfrm>
            <a:off x="6720840" y="2103120"/>
            <a:ext cx="1417320" cy="274320"/>
          </a:xfrm>
          <a:prstGeom prst="rect">
            <a:avLst/>
          </a:prstGeom>
          <a:noFill/>
          <a:ln/>
        </p:spPr>
        <p:txBody>
          <a:bodyPr wrap="square" lIns="0" tIns="0" rIns="0" bIns="0" rtlCol="0" anchor="ctr"/>
          <a:lstStyle/>
          <a:p>
            <a:pPr marL="0" indent="0" algn="ctr">
              <a:buNone/>
            </a:pPr>
            <a:r>
              <a:rPr lang="en-US" sz="1200" b="1" dirty="0">
                <a:solidFill>
                  <a:srgbClr val="FFFFFF"/>
                </a:solidFill>
              </a:rPr>
              <a:t>ESCALATE</a:t>
            </a:r>
            <a:endParaRPr lang="en-US" sz="1200" dirty="0"/>
          </a:p>
        </p:txBody>
      </p:sp>
      <p:sp>
        <p:nvSpPr>
          <p:cNvPr id="37" name="Text 35"/>
          <p:cNvSpPr/>
          <p:nvPr/>
        </p:nvSpPr>
        <p:spPr>
          <a:xfrm>
            <a:off x="6793992" y="2423160"/>
            <a:ext cx="1271016" cy="1097280"/>
          </a:xfrm>
          <a:prstGeom prst="rect">
            <a:avLst/>
          </a:prstGeom>
          <a:noFill/>
          <a:ln/>
        </p:spPr>
        <p:txBody>
          <a:bodyPr wrap="square" lIns="0" tIns="0" rIns="0" bIns="0" rtlCol="0" anchor="ctr"/>
          <a:lstStyle/>
          <a:p>
            <a:pPr marL="0" indent="0" algn="ctr">
              <a:buNone/>
            </a:pPr>
            <a:r>
              <a:rPr lang="en-US" sz="950" dirty="0">
                <a:solidFill>
                  <a:srgbClr val="FFFFFF"/>
                </a:solidFill>
              </a:rPr>
              <a:t>High-risk cases auto-sent to supervisor instantly</a:t>
            </a:r>
            <a:endParaRPr lang="en-US" sz="950" dirty="0"/>
          </a:p>
        </p:txBody>
      </p:sp>
      <p:sp>
        <p:nvSpPr>
          <p:cNvPr id="38" name="Shape 36"/>
          <p:cNvSpPr/>
          <p:nvPr/>
        </p:nvSpPr>
        <p:spPr>
          <a:xfrm>
            <a:off x="320040" y="4023360"/>
            <a:ext cx="2560320" cy="411480"/>
          </a:xfrm>
          <a:prstGeom prst="roundRect">
            <a:avLst/>
          </a:prstGeom>
          <a:solidFill>
            <a:srgbClr val="E0F5F3"/>
          </a:solidFill>
          <a:ln/>
        </p:spPr>
      </p:sp>
      <p:sp>
        <p:nvSpPr>
          <p:cNvPr id="39" name="Text 37"/>
          <p:cNvSpPr/>
          <p:nvPr/>
        </p:nvSpPr>
        <p:spPr>
          <a:xfrm>
            <a:off x="320040" y="4023360"/>
            <a:ext cx="2560320" cy="411480"/>
          </a:xfrm>
          <a:prstGeom prst="rect">
            <a:avLst/>
          </a:prstGeom>
          <a:noFill/>
          <a:ln/>
        </p:spPr>
        <p:txBody>
          <a:bodyPr wrap="square" lIns="0" tIns="0" rIns="0" bIns="0" rtlCol="0" anchor="ctr"/>
          <a:lstStyle/>
          <a:p>
            <a:pPr marL="0" indent="0" algn="ctr">
              <a:buNone/>
            </a:pPr>
            <a:r>
              <a:rPr lang="en-US" sz="1100" b="1" dirty="0">
                <a:solidFill>
                  <a:srgbClr val="0F2044"/>
                </a:solidFill>
              </a:rPr>
              <a:t>✓ Works in 10+ Indian Languages</a:t>
            </a:r>
            <a:endParaRPr lang="en-US" sz="1100" dirty="0"/>
          </a:p>
        </p:txBody>
      </p:sp>
      <p:sp>
        <p:nvSpPr>
          <p:cNvPr id="40" name="Shape 38"/>
          <p:cNvSpPr/>
          <p:nvPr/>
        </p:nvSpPr>
        <p:spPr>
          <a:xfrm>
            <a:off x="3200400" y="4023360"/>
            <a:ext cx="2560320" cy="411480"/>
          </a:xfrm>
          <a:prstGeom prst="roundRect">
            <a:avLst/>
          </a:prstGeom>
          <a:solidFill>
            <a:srgbClr val="E0F5F3"/>
          </a:solidFill>
          <a:ln/>
        </p:spPr>
      </p:sp>
      <p:sp>
        <p:nvSpPr>
          <p:cNvPr id="41" name="Text 39"/>
          <p:cNvSpPr/>
          <p:nvPr/>
        </p:nvSpPr>
        <p:spPr>
          <a:xfrm>
            <a:off x="3200400" y="4023360"/>
            <a:ext cx="2560320" cy="411480"/>
          </a:xfrm>
          <a:prstGeom prst="rect">
            <a:avLst/>
          </a:prstGeom>
          <a:noFill/>
          <a:ln/>
        </p:spPr>
        <p:txBody>
          <a:bodyPr wrap="square" lIns="0" tIns="0" rIns="0" bIns="0" rtlCol="0" anchor="ctr"/>
          <a:lstStyle/>
          <a:p>
            <a:pPr marL="0" indent="0" algn="ctr">
              <a:buNone/>
            </a:pPr>
            <a:r>
              <a:rPr lang="en-US" sz="1100" b="1" dirty="0">
                <a:solidFill>
                  <a:srgbClr val="0F2044"/>
                </a:solidFill>
              </a:rPr>
              <a:t>✓ Under 10 Seconds End-to-End</a:t>
            </a:r>
            <a:endParaRPr lang="en-US" sz="1100" dirty="0"/>
          </a:p>
        </p:txBody>
      </p:sp>
      <p:sp>
        <p:nvSpPr>
          <p:cNvPr id="42" name="Shape 40"/>
          <p:cNvSpPr/>
          <p:nvPr/>
        </p:nvSpPr>
        <p:spPr>
          <a:xfrm>
            <a:off x="6080760" y="4023360"/>
            <a:ext cx="2560320" cy="411480"/>
          </a:xfrm>
          <a:prstGeom prst="roundRect">
            <a:avLst/>
          </a:prstGeom>
          <a:solidFill>
            <a:srgbClr val="E0F5F3"/>
          </a:solidFill>
          <a:ln/>
        </p:spPr>
      </p:sp>
      <p:sp>
        <p:nvSpPr>
          <p:cNvPr id="43" name="Text 41"/>
          <p:cNvSpPr/>
          <p:nvPr/>
        </p:nvSpPr>
        <p:spPr>
          <a:xfrm>
            <a:off x="6080760" y="4023360"/>
            <a:ext cx="2560320" cy="411480"/>
          </a:xfrm>
          <a:prstGeom prst="rect">
            <a:avLst/>
          </a:prstGeom>
          <a:noFill/>
          <a:ln/>
        </p:spPr>
        <p:txBody>
          <a:bodyPr wrap="square" lIns="0" tIns="0" rIns="0" bIns="0" rtlCol="0" anchor="ctr"/>
          <a:lstStyle/>
          <a:p>
            <a:pPr marL="0" indent="0" algn="ctr">
              <a:buNone/>
            </a:pPr>
            <a:r>
              <a:rPr lang="en-US" sz="1100" b="1" dirty="0">
                <a:solidFill>
                  <a:srgbClr val="0F2044"/>
                </a:solidFill>
              </a:rPr>
              <a:t>✓ Works Fully Offline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2044"/>
        </a:solidFill>
        <a:effectLst/>
      </p:bgPr>
    </p:bg>
    <p:spTree>
      <p:nvGrpSpPr>
        <p:cNvPr id="1" name=""/>
        <p:cNvGrpSpPr/>
        <p:nvPr/>
      </p:nvGrpSpPr>
      <p:grpSpPr>
        <a:xfrm>
          <a:off x="0" y="0"/>
          <a:ext cx="0" cy="0"/>
          <a:chOff x="0" y="0"/>
          <a:chExt cx="0" cy="0"/>
        </a:xfrm>
      </p:grpSpPr>
      <p:sp>
        <p:nvSpPr>
          <p:cNvPr id="2" name="Text 0"/>
          <p:cNvSpPr/>
          <p:nvPr/>
        </p:nvSpPr>
        <p:spPr>
          <a:xfrm>
            <a:off x="365760" y="228600"/>
            <a:ext cx="7315200" cy="457200"/>
          </a:xfrm>
          <a:prstGeom prst="rect">
            <a:avLst/>
          </a:prstGeom>
          <a:noFill/>
          <a:ln/>
        </p:spPr>
        <p:txBody>
          <a:bodyPr wrap="square" lIns="0" tIns="0" rIns="0" bIns="0" rtlCol="0" anchor="ctr"/>
          <a:lstStyle/>
          <a:p>
            <a:pPr marL="0" indent="0">
              <a:buNone/>
            </a:pPr>
            <a:r>
              <a:rPr lang="en-US" sz="2800" b="1" dirty="0">
                <a:solidFill>
                  <a:srgbClr val="FFFFFF"/>
                </a:solidFill>
              </a:rPr>
              <a:t>5-Stage Explainable AI Pipeline</a:t>
            </a:r>
            <a:endParaRPr lang="en-US" sz="2800" dirty="0"/>
          </a:p>
        </p:txBody>
      </p:sp>
      <p:sp>
        <p:nvSpPr>
          <p:cNvPr id="3" name="Text 1"/>
          <p:cNvSpPr/>
          <p:nvPr/>
        </p:nvSpPr>
        <p:spPr>
          <a:xfrm>
            <a:off x="365760" y="685800"/>
            <a:ext cx="7315200" cy="320040"/>
          </a:xfrm>
          <a:prstGeom prst="rect">
            <a:avLst/>
          </a:prstGeom>
          <a:noFill/>
          <a:ln/>
        </p:spPr>
        <p:txBody>
          <a:bodyPr wrap="square" lIns="0" tIns="0" rIns="0" bIns="0" rtlCol="0" anchor="ctr"/>
          <a:lstStyle/>
          <a:p>
            <a:pPr marL="0" indent="0">
              <a:buNone/>
            </a:pPr>
            <a:r>
              <a:rPr lang="en-US" sz="1400" dirty="0">
                <a:solidFill>
                  <a:srgbClr val="13B5A6"/>
                </a:solidFill>
              </a:rPr>
              <a:t>Every decision is transparent, traceable, and fallback-safe</a:t>
            </a:r>
            <a:endParaRPr lang="en-US" sz="1400" dirty="0"/>
          </a:p>
        </p:txBody>
      </p:sp>
      <p:sp>
        <p:nvSpPr>
          <p:cNvPr id="4" name="Shape 2"/>
          <p:cNvSpPr/>
          <p:nvPr/>
        </p:nvSpPr>
        <p:spPr>
          <a:xfrm>
            <a:off x="365760" y="1097280"/>
            <a:ext cx="8412480" cy="640080"/>
          </a:xfrm>
          <a:prstGeom prst="rect">
            <a:avLst/>
          </a:prstGeom>
          <a:solidFill>
            <a:srgbClr val="1A3461"/>
          </a:solidFill>
          <a:ln/>
        </p:spPr>
      </p:sp>
      <p:sp>
        <p:nvSpPr>
          <p:cNvPr id="5" name="Text 3"/>
          <p:cNvSpPr/>
          <p:nvPr/>
        </p:nvSpPr>
        <p:spPr>
          <a:xfrm>
            <a:off x="548640" y="1234440"/>
            <a:ext cx="2011680" cy="365760"/>
          </a:xfrm>
          <a:prstGeom prst="rect">
            <a:avLst/>
          </a:prstGeom>
          <a:noFill/>
          <a:ln/>
        </p:spPr>
        <p:txBody>
          <a:bodyPr wrap="square" lIns="0" tIns="0" rIns="0" bIns="0" rtlCol="0" anchor="ctr"/>
          <a:lstStyle/>
          <a:p>
            <a:pPr marL="0" indent="0">
              <a:buNone/>
            </a:pPr>
            <a:r>
              <a:rPr lang="en-US" sz="1300" b="1" dirty="0">
                <a:solidFill>
                  <a:srgbClr val="13B5A6"/>
                </a:solidFill>
              </a:rPr>
              <a:t>01  EXTRACTOR</a:t>
            </a:r>
            <a:endParaRPr lang="en-US" sz="1300" dirty="0"/>
          </a:p>
        </p:txBody>
      </p:sp>
      <p:sp>
        <p:nvSpPr>
          <p:cNvPr id="6" name="Text 4"/>
          <p:cNvSpPr/>
          <p:nvPr/>
        </p:nvSpPr>
        <p:spPr>
          <a:xfrm>
            <a:off x="2651760" y="1234440"/>
            <a:ext cx="4114800" cy="365760"/>
          </a:xfrm>
          <a:prstGeom prst="rect">
            <a:avLst/>
          </a:prstGeom>
          <a:noFill/>
          <a:ln/>
        </p:spPr>
        <p:txBody>
          <a:bodyPr wrap="square" lIns="0" tIns="0" rIns="0" bIns="0" rtlCol="0" anchor="ctr"/>
          <a:lstStyle/>
          <a:p>
            <a:pPr marL="0" indent="0">
              <a:buNone/>
            </a:pPr>
            <a:r>
              <a:rPr lang="en-US" sz="1050" dirty="0">
                <a:solidFill>
                  <a:srgbClr val="FFFFFF"/>
                </a:solidFill>
              </a:rPr>
              <a:t>Regional language transcript → structured JSON (category, observations, risk indicators)</a:t>
            </a:r>
            <a:endParaRPr lang="en-US" sz="1050" dirty="0"/>
          </a:p>
        </p:txBody>
      </p:sp>
      <p:sp>
        <p:nvSpPr>
          <p:cNvPr id="7" name="Text 5"/>
          <p:cNvSpPr/>
          <p:nvPr/>
        </p:nvSpPr>
        <p:spPr>
          <a:xfrm>
            <a:off x="6858000" y="1234440"/>
            <a:ext cx="1828800" cy="365760"/>
          </a:xfrm>
          <a:prstGeom prst="rect">
            <a:avLst/>
          </a:prstGeom>
          <a:noFill/>
          <a:ln/>
        </p:spPr>
        <p:txBody>
          <a:bodyPr wrap="square" lIns="0" tIns="0" rIns="0" bIns="0" rtlCol="0" anchor="ctr"/>
          <a:lstStyle/>
          <a:p>
            <a:pPr marL="0" indent="0" algn="r">
              <a:buNone/>
            </a:pPr>
            <a:r>
              <a:rPr lang="en-US" sz="1000" dirty="0">
                <a:solidFill>
                  <a:srgbClr val="13B5A6"/>
                </a:solidFill>
              </a:rPr>
              <a:t>Fallback: regex keyword matching</a:t>
            </a:r>
            <a:endParaRPr lang="en-US" sz="1000" dirty="0"/>
          </a:p>
        </p:txBody>
      </p:sp>
      <p:sp>
        <p:nvSpPr>
          <p:cNvPr id="8" name="Shape 6"/>
          <p:cNvSpPr/>
          <p:nvPr/>
        </p:nvSpPr>
        <p:spPr>
          <a:xfrm>
            <a:off x="365760" y="1783080"/>
            <a:ext cx="8412480" cy="640080"/>
          </a:xfrm>
          <a:prstGeom prst="rect">
            <a:avLst/>
          </a:prstGeom>
          <a:solidFill>
            <a:srgbClr val="1A3461"/>
          </a:solidFill>
          <a:ln/>
        </p:spPr>
      </p:sp>
      <p:sp>
        <p:nvSpPr>
          <p:cNvPr id="9" name="Text 7"/>
          <p:cNvSpPr/>
          <p:nvPr/>
        </p:nvSpPr>
        <p:spPr>
          <a:xfrm>
            <a:off x="548640" y="1920240"/>
            <a:ext cx="2011680" cy="365760"/>
          </a:xfrm>
          <a:prstGeom prst="rect">
            <a:avLst/>
          </a:prstGeom>
          <a:noFill/>
          <a:ln/>
        </p:spPr>
        <p:txBody>
          <a:bodyPr wrap="square" lIns="0" tIns="0" rIns="0" bIns="0" rtlCol="0" anchor="ctr"/>
          <a:lstStyle/>
          <a:p>
            <a:pPr marL="0" indent="0">
              <a:buNone/>
            </a:pPr>
            <a:r>
              <a:rPr lang="en-US" sz="1300" b="1" dirty="0">
                <a:solidFill>
                  <a:srgbClr val="13B5A6"/>
                </a:solidFill>
              </a:rPr>
              <a:t>02  RISK SCORER</a:t>
            </a:r>
            <a:endParaRPr lang="en-US" sz="1300" dirty="0"/>
          </a:p>
        </p:txBody>
      </p:sp>
      <p:sp>
        <p:nvSpPr>
          <p:cNvPr id="10" name="Text 8"/>
          <p:cNvSpPr/>
          <p:nvPr/>
        </p:nvSpPr>
        <p:spPr>
          <a:xfrm>
            <a:off x="2651760" y="1920240"/>
            <a:ext cx="4114800" cy="365760"/>
          </a:xfrm>
          <a:prstGeom prst="rect">
            <a:avLst/>
          </a:prstGeom>
          <a:noFill/>
          <a:ln/>
        </p:spPr>
        <p:txBody>
          <a:bodyPr wrap="square" lIns="0" tIns="0" rIns="0" bIns="0" rtlCol="0" anchor="ctr"/>
          <a:lstStyle/>
          <a:p>
            <a:pPr marL="0" indent="0">
              <a:buNone/>
            </a:pPr>
            <a:r>
              <a:rPr lang="en-US" sz="1050" dirty="0">
                <a:solidFill>
                  <a:srgbClr val="FFFFFF"/>
                </a:solidFill>
              </a:rPr>
              <a:t>Structured data → Critical / High / Medium / Low + one-sentence justification</a:t>
            </a:r>
            <a:endParaRPr lang="en-US" sz="1050" dirty="0"/>
          </a:p>
        </p:txBody>
      </p:sp>
      <p:sp>
        <p:nvSpPr>
          <p:cNvPr id="11" name="Text 9"/>
          <p:cNvSpPr/>
          <p:nvPr/>
        </p:nvSpPr>
        <p:spPr>
          <a:xfrm>
            <a:off x="6858000" y="1920240"/>
            <a:ext cx="1828800" cy="365760"/>
          </a:xfrm>
          <a:prstGeom prst="rect">
            <a:avLst/>
          </a:prstGeom>
          <a:noFill/>
          <a:ln/>
        </p:spPr>
        <p:txBody>
          <a:bodyPr wrap="square" lIns="0" tIns="0" rIns="0" bIns="0" rtlCol="0" anchor="ctr"/>
          <a:lstStyle/>
          <a:p>
            <a:pPr marL="0" indent="0" algn="r">
              <a:buNone/>
            </a:pPr>
            <a:r>
              <a:rPr lang="en-US" sz="1000" dirty="0">
                <a:solidFill>
                  <a:srgbClr val="13B5A6"/>
                </a:solidFill>
              </a:rPr>
              <a:t>Fallback: rule engine guidelines</a:t>
            </a:r>
            <a:endParaRPr lang="en-US" sz="1000" dirty="0"/>
          </a:p>
        </p:txBody>
      </p:sp>
      <p:sp>
        <p:nvSpPr>
          <p:cNvPr id="12" name="Shape 10"/>
          <p:cNvSpPr/>
          <p:nvPr/>
        </p:nvSpPr>
        <p:spPr>
          <a:xfrm>
            <a:off x="365760" y="2468880"/>
            <a:ext cx="8412480" cy="640080"/>
          </a:xfrm>
          <a:prstGeom prst="rect">
            <a:avLst/>
          </a:prstGeom>
          <a:solidFill>
            <a:srgbClr val="0D7A6F"/>
          </a:solidFill>
          <a:ln/>
        </p:spPr>
      </p:sp>
      <p:sp>
        <p:nvSpPr>
          <p:cNvPr id="13" name="Text 11"/>
          <p:cNvSpPr/>
          <p:nvPr/>
        </p:nvSpPr>
        <p:spPr>
          <a:xfrm>
            <a:off x="548640" y="2606040"/>
            <a:ext cx="2011680" cy="365760"/>
          </a:xfrm>
          <a:prstGeom prst="rect">
            <a:avLst/>
          </a:prstGeom>
          <a:noFill/>
          <a:ln/>
        </p:spPr>
        <p:txBody>
          <a:bodyPr wrap="square" lIns="0" tIns="0" rIns="0" bIns="0" rtlCol="0" anchor="ctr"/>
          <a:lstStyle/>
          <a:p>
            <a:pPr marL="0" indent="0">
              <a:buNone/>
            </a:pPr>
            <a:r>
              <a:rPr lang="en-US" sz="1300" b="1" dirty="0">
                <a:solidFill>
                  <a:srgbClr val="FFFFFF"/>
                </a:solidFill>
              </a:rPr>
              <a:t>03  REPORT WRITER</a:t>
            </a:r>
            <a:endParaRPr lang="en-US" sz="1300" dirty="0"/>
          </a:p>
        </p:txBody>
      </p:sp>
      <p:sp>
        <p:nvSpPr>
          <p:cNvPr id="14" name="Text 12"/>
          <p:cNvSpPr/>
          <p:nvPr/>
        </p:nvSpPr>
        <p:spPr>
          <a:xfrm>
            <a:off x="2651760" y="2606040"/>
            <a:ext cx="4114800" cy="365760"/>
          </a:xfrm>
          <a:prstGeom prst="rect">
            <a:avLst/>
          </a:prstGeom>
          <a:noFill/>
          <a:ln/>
        </p:spPr>
        <p:txBody>
          <a:bodyPr wrap="square" lIns="0" tIns="0" rIns="0" bIns="0" rtlCol="0" anchor="ctr"/>
          <a:lstStyle/>
          <a:p>
            <a:pPr marL="0" indent="0">
              <a:buNone/>
            </a:pPr>
            <a:r>
              <a:rPr lang="en-US" sz="1050" dirty="0">
                <a:solidFill>
                  <a:srgbClr val="FFFFFF"/>
                </a:solidFill>
              </a:rPr>
              <a:t>Generates formal English report regardless of input language — zero translation step required</a:t>
            </a:r>
            <a:endParaRPr lang="en-US" sz="1050" dirty="0"/>
          </a:p>
        </p:txBody>
      </p:sp>
      <p:sp>
        <p:nvSpPr>
          <p:cNvPr id="15" name="Text 13"/>
          <p:cNvSpPr/>
          <p:nvPr/>
        </p:nvSpPr>
        <p:spPr>
          <a:xfrm>
            <a:off x="6858000" y="2606040"/>
            <a:ext cx="1828800" cy="365760"/>
          </a:xfrm>
          <a:prstGeom prst="rect">
            <a:avLst/>
          </a:prstGeom>
          <a:noFill/>
          <a:ln/>
        </p:spPr>
        <p:txBody>
          <a:bodyPr wrap="square" lIns="0" tIns="0" rIns="0" bIns="0" rtlCol="0" anchor="ctr"/>
          <a:lstStyle/>
          <a:p>
            <a:pPr marL="0" indent="0" algn="r">
              <a:buNone/>
            </a:pPr>
            <a:r>
              <a:rPr lang="en-US" sz="1000" dirty="0">
                <a:solidFill>
                  <a:srgbClr val="E0F5F3"/>
                </a:solidFill>
              </a:rPr>
              <a:t>Fallback: field template filler</a:t>
            </a:r>
            <a:endParaRPr lang="en-US" sz="1000" dirty="0"/>
          </a:p>
        </p:txBody>
      </p:sp>
      <p:sp>
        <p:nvSpPr>
          <p:cNvPr id="16" name="Shape 14"/>
          <p:cNvSpPr/>
          <p:nvPr/>
        </p:nvSpPr>
        <p:spPr>
          <a:xfrm>
            <a:off x="365760" y="3154680"/>
            <a:ext cx="8412480" cy="640080"/>
          </a:xfrm>
          <a:prstGeom prst="rect">
            <a:avLst/>
          </a:prstGeom>
          <a:solidFill>
            <a:srgbClr val="1A3461"/>
          </a:solidFill>
          <a:ln/>
        </p:spPr>
      </p:sp>
      <p:sp>
        <p:nvSpPr>
          <p:cNvPr id="17" name="Text 15"/>
          <p:cNvSpPr/>
          <p:nvPr/>
        </p:nvSpPr>
        <p:spPr>
          <a:xfrm>
            <a:off x="548640" y="3291840"/>
            <a:ext cx="2011680" cy="365760"/>
          </a:xfrm>
          <a:prstGeom prst="rect">
            <a:avLst/>
          </a:prstGeom>
          <a:noFill/>
          <a:ln/>
        </p:spPr>
        <p:txBody>
          <a:bodyPr wrap="square" lIns="0" tIns="0" rIns="0" bIns="0" rtlCol="0" anchor="ctr"/>
          <a:lstStyle/>
          <a:p>
            <a:pPr marL="0" indent="0">
              <a:buNone/>
            </a:pPr>
            <a:r>
              <a:rPr lang="en-US" sz="1300" b="1" dirty="0">
                <a:solidFill>
                  <a:srgbClr val="13B5A6"/>
                </a:solidFill>
              </a:rPr>
              <a:t>04  ESCALATION EVAL</a:t>
            </a:r>
            <a:endParaRPr lang="en-US" sz="1300" dirty="0"/>
          </a:p>
        </p:txBody>
      </p:sp>
      <p:sp>
        <p:nvSpPr>
          <p:cNvPr id="18" name="Text 16"/>
          <p:cNvSpPr/>
          <p:nvPr/>
        </p:nvSpPr>
        <p:spPr>
          <a:xfrm>
            <a:off x="2651760" y="3291840"/>
            <a:ext cx="4114800" cy="365760"/>
          </a:xfrm>
          <a:prstGeom prst="rect">
            <a:avLst/>
          </a:prstGeom>
          <a:noFill/>
          <a:ln/>
        </p:spPr>
        <p:txBody>
          <a:bodyPr wrap="square" lIns="0" tIns="0" rIns="0" bIns="0" rtlCol="0" anchor="ctr"/>
          <a:lstStyle/>
          <a:p>
            <a:pPr marL="0" indent="0">
              <a:buNone/>
            </a:pPr>
            <a:r>
              <a:rPr lang="en-US" sz="1050" dirty="0">
                <a:solidFill>
                  <a:srgbClr val="FFFFFF"/>
                </a:solidFill>
              </a:rPr>
              <a:t>High/Critical → Escalation record created, supervisor notified in real time.</a:t>
            </a:r>
            <a:endParaRPr lang="en-US" sz="1050" dirty="0"/>
          </a:p>
        </p:txBody>
      </p:sp>
      <p:sp>
        <p:nvSpPr>
          <p:cNvPr id="19" name="Text 17"/>
          <p:cNvSpPr/>
          <p:nvPr/>
        </p:nvSpPr>
        <p:spPr>
          <a:xfrm>
            <a:off x="6858000" y="3291840"/>
            <a:ext cx="1828800" cy="365760"/>
          </a:xfrm>
          <a:prstGeom prst="rect">
            <a:avLst/>
          </a:prstGeom>
          <a:noFill/>
          <a:ln/>
        </p:spPr>
        <p:txBody>
          <a:bodyPr wrap="square" lIns="0" tIns="0" rIns="0" bIns="0" rtlCol="0" anchor="ctr"/>
          <a:lstStyle/>
          <a:p>
            <a:pPr marL="0" indent="0" algn="r">
              <a:buNone/>
            </a:pPr>
            <a:r>
              <a:rPr lang="en-US" sz="1000" dirty="0">
                <a:solidFill>
                  <a:srgbClr val="13B5A6"/>
                </a:solidFill>
              </a:rPr>
              <a:t>No AI dependency (pure logic)</a:t>
            </a:r>
            <a:endParaRPr lang="en-US" sz="1000" dirty="0"/>
          </a:p>
        </p:txBody>
      </p:sp>
      <p:sp>
        <p:nvSpPr>
          <p:cNvPr id="20" name="Shape 18"/>
          <p:cNvSpPr/>
          <p:nvPr/>
        </p:nvSpPr>
        <p:spPr>
          <a:xfrm>
            <a:off x="365760" y="3840480"/>
            <a:ext cx="8412480" cy="640080"/>
          </a:xfrm>
          <a:prstGeom prst="rect">
            <a:avLst/>
          </a:prstGeom>
          <a:solidFill>
            <a:srgbClr val="1A3461"/>
          </a:solidFill>
          <a:ln/>
        </p:spPr>
      </p:sp>
      <p:sp>
        <p:nvSpPr>
          <p:cNvPr id="21" name="Text 19"/>
          <p:cNvSpPr/>
          <p:nvPr/>
        </p:nvSpPr>
        <p:spPr>
          <a:xfrm>
            <a:off x="548640" y="3977640"/>
            <a:ext cx="2011680" cy="365760"/>
          </a:xfrm>
          <a:prstGeom prst="rect">
            <a:avLst/>
          </a:prstGeom>
          <a:noFill/>
          <a:ln/>
        </p:spPr>
        <p:txBody>
          <a:bodyPr wrap="square" lIns="0" tIns="0" rIns="0" bIns="0" rtlCol="0" anchor="ctr"/>
          <a:lstStyle/>
          <a:p>
            <a:pPr marL="0" indent="0">
              <a:buNone/>
            </a:pPr>
            <a:r>
              <a:rPr lang="en-US" sz="1300" b="1" dirty="0">
                <a:solidFill>
                  <a:srgbClr val="13B5A6"/>
                </a:solidFill>
              </a:rPr>
              <a:t>05  TRACE LOGGER</a:t>
            </a:r>
            <a:endParaRPr lang="en-US" sz="1300" dirty="0"/>
          </a:p>
        </p:txBody>
      </p:sp>
      <p:sp>
        <p:nvSpPr>
          <p:cNvPr id="22" name="Text 20"/>
          <p:cNvSpPr/>
          <p:nvPr/>
        </p:nvSpPr>
        <p:spPr>
          <a:xfrm>
            <a:off x="2651760" y="3977640"/>
            <a:ext cx="4114800" cy="365760"/>
          </a:xfrm>
          <a:prstGeom prst="rect">
            <a:avLst/>
          </a:prstGeom>
          <a:noFill/>
          <a:ln/>
        </p:spPr>
        <p:txBody>
          <a:bodyPr wrap="square" lIns="0" tIns="0" rIns="0" bIns="0" rtlCol="0" anchor="ctr"/>
          <a:lstStyle/>
          <a:p>
            <a:pPr marL="0" indent="0">
              <a:buNone/>
            </a:pPr>
            <a:r>
              <a:rPr lang="en-US" sz="1050" dirty="0">
                <a:solidFill>
                  <a:srgbClr val="FFFFFF"/>
                </a:solidFill>
              </a:rPr>
              <a:t>Full audit trail stored per visit — every field tagged AI or Fallback.</a:t>
            </a:r>
            <a:endParaRPr lang="en-US" sz="1050" dirty="0"/>
          </a:p>
        </p:txBody>
      </p:sp>
      <p:sp>
        <p:nvSpPr>
          <p:cNvPr id="23" name="Text 21"/>
          <p:cNvSpPr/>
          <p:nvPr/>
        </p:nvSpPr>
        <p:spPr>
          <a:xfrm>
            <a:off x="6858000" y="3977640"/>
            <a:ext cx="1828800" cy="365760"/>
          </a:xfrm>
          <a:prstGeom prst="rect">
            <a:avLst/>
          </a:prstGeom>
          <a:noFill/>
          <a:ln/>
        </p:spPr>
        <p:txBody>
          <a:bodyPr wrap="square" lIns="0" tIns="0" rIns="0" bIns="0" rtlCol="0" anchor="ctr"/>
          <a:lstStyle/>
          <a:p>
            <a:pPr marL="0" indent="0" algn="r">
              <a:buNone/>
            </a:pPr>
            <a:r>
              <a:rPr lang="en-US" sz="1000" dirty="0">
                <a:solidFill>
                  <a:srgbClr val="13B5A6"/>
                </a:solidFill>
              </a:rPr>
              <a:t>Always runs — no failure mode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365760" y="274320"/>
            <a:ext cx="7315200" cy="457200"/>
          </a:xfrm>
          <a:prstGeom prst="rect">
            <a:avLst/>
          </a:prstGeom>
          <a:noFill/>
          <a:ln/>
        </p:spPr>
        <p:txBody>
          <a:bodyPr wrap="square" lIns="0" tIns="0" rIns="0" bIns="0" rtlCol="0" anchor="ctr"/>
          <a:lstStyle/>
          <a:p>
            <a:pPr marL="0" indent="0">
              <a:buNone/>
            </a:pPr>
            <a:r>
              <a:rPr lang="en-US" sz="2800" b="1" dirty="0">
                <a:solidFill>
                  <a:srgbClr val="0F2044"/>
                </a:solidFill>
              </a:rPr>
              <a:t>Speaks Her Language. Reports in English.</a:t>
            </a:r>
            <a:endParaRPr lang="en-US" sz="2800" dirty="0"/>
          </a:p>
        </p:txBody>
      </p:sp>
      <p:sp>
        <p:nvSpPr>
          <p:cNvPr id="3" name="Text 1"/>
          <p:cNvSpPr/>
          <p:nvPr/>
        </p:nvSpPr>
        <p:spPr>
          <a:xfrm>
            <a:off x="365760" y="777240"/>
            <a:ext cx="7315200" cy="365760"/>
          </a:xfrm>
          <a:prstGeom prst="rect">
            <a:avLst/>
          </a:prstGeom>
          <a:noFill/>
          <a:ln/>
        </p:spPr>
        <p:txBody>
          <a:bodyPr wrap="square" lIns="0" tIns="0" rIns="0" bIns="0" rtlCol="0" anchor="ctr"/>
          <a:lstStyle/>
          <a:p>
            <a:pPr marL="0" indent="0">
              <a:buNone/>
            </a:pPr>
            <a:r>
              <a:rPr lang="en-US" sz="1400" dirty="0">
                <a:solidFill>
                  <a:srgbClr val="0D7A6F"/>
                </a:solidFill>
              </a:rPr>
              <a:t>The first health worker tool with true regional language voice input</a:t>
            </a:r>
            <a:endParaRPr lang="en-US" sz="1400" dirty="0"/>
          </a:p>
        </p:txBody>
      </p:sp>
      <p:sp>
        <p:nvSpPr>
          <p:cNvPr id="4" name="Shape 2"/>
          <p:cNvSpPr/>
          <p:nvPr/>
        </p:nvSpPr>
        <p:spPr>
          <a:xfrm>
            <a:off x="365760" y="1280160"/>
            <a:ext cx="3840480" cy="1005840"/>
          </a:xfrm>
          <a:prstGeom prst="rect">
            <a:avLst/>
          </a:prstGeom>
          <a:solidFill>
            <a:srgbClr val="0F2044"/>
          </a:solidFill>
          <a:ln/>
        </p:spPr>
      </p:sp>
      <p:sp>
        <p:nvSpPr>
          <p:cNvPr id="5" name="Text 3"/>
          <p:cNvSpPr/>
          <p:nvPr/>
        </p:nvSpPr>
        <p:spPr>
          <a:xfrm>
            <a:off x="502920" y="1371600"/>
            <a:ext cx="3566160" cy="182880"/>
          </a:xfrm>
          <a:prstGeom prst="rect">
            <a:avLst/>
          </a:prstGeom>
          <a:noFill/>
          <a:ln/>
        </p:spPr>
        <p:txBody>
          <a:bodyPr wrap="square" lIns="0" tIns="0" rIns="0" bIns="0" rtlCol="0" anchor="ctr"/>
          <a:lstStyle/>
          <a:p>
            <a:pPr marL="0" indent="0">
              <a:buNone/>
            </a:pPr>
            <a:r>
              <a:rPr lang="en-US" sz="1000" b="1" dirty="0">
                <a:solidFill>
                  <a:srgbClr val="13B5A6"/>
                </a:solidFill>
              </a:rPr>
              <a:t>WORKER SPEAKS (Telugu)</a:t>
            </a:r>
            <a:endParaRPr lang="en-US" sz="1000" dirty="0"/>
          </a:p>
        </p:txBody>
      </p:sp>
      <p:sp>
        <p:nvSpPr>
          <p:cNvPr id="6" name="Text 4"/>
          <p:cNvSpPr/>
          <p:nvPr/>
        </p:nvSpPr>
        <p:spPr>
          <a:xfrm>
            <a:off x="502920" y="1600200"/>
            <a:ext cx="3566160" cy="548640"/>
          </a:xfrm>
          <a:prstGeom prst="rect">
            <a:avLst/>
          </a:prstGeom>
          <a:noFill/>
          <a:ln/>
        </p:spPr>
        <p:txBody>
          <a:bodyPr wrap="square" lIns="0" tIns="0" rIns="0" bIns="0" rtlCol="0" anchor="ctr"/>
          <a:lstStyle/>
          <a:p>
            <a:pPr marL="0" indent="0">
              <a:buNone/>
            </a:pPr>
            <a:r>
              <a:rPr lang="en-US" sz="1300" i="1" dirty="0">
                <a:solidFill>
                  <a:srgbClr val="FFFFFF"/>
                </a:solidFill>
              </a:rPr>
              <a:t>మీన పిల్లవాడు, రెండవ సారి వచ్చాను, బరువు పెరగలేదు</a:t>
            </a:r>
            <a:endParaRPr lang="en-US" sz="1300" dirty="0"/>
          </a:p>
        </p:txBody>
      </p:sp>
      <p:sp>
        <p:nvSpPr>
          <p:cNvPr id="7" name="Text 5"/>
          <p:cNvSpPr/>
          <p:nvPr/>
        </p:nvSpPr>
        <p:spPr>
          <a:xfrm>
            <a:off x="2194560" y="2331720"/>
            <a:ext cx="182880" cy="274320"/>
          </a:xfrm>
          <a:prstGeom prst="rect">
            <a:avLst/>
          </a:prstGeom>
          <a:noFill/>
          <a:ln/>
        </p:spPr>
        <p:txBody>
          <a:bodyPr wrap="square" lIns="0" tIns="0" rIns="0" bIns="0" rtlCol="0" anchor="ctr"/>
          <a:lstStyle/>
          <a:p>
            <a:pPr marL="0" indent="0" algn="ctr">
              <a:buNone/>
            </a:pPr>
            <a:r>
              <a:rPr lang="en-US" sz="2400" b="1" dirty="0">
                <a:solidFill>
                  <a:srgbClr val="0D7A6F"/>
                </a:solidFill>
              </a:rPr>
              <a:t>↓</a:t>
            </a:r>
            <a:endParaRPr lang="en-US" sz="2400" dirty="0"/>
          </a:p>
        </p:txBody>
      </p:sp>
      <p:sp>
        <p:nvSpPr>
          <p:cNvPr id="8" name="Shape 6"/>
          <p:cNvSpPr/>
          <p:nvPr/>
        </p:nvSpPr>
        <p:spPr>
          <a:xfrm>
            <a:off x="365760" y="2651760"/>
            <a:ext cx="3840480" cy="640080"/>
          </a:xfrm>
          <a:prstGeom prst="rect">
            <a:avLst/>
          </a:prstGeom>
          <a:solidFill>
            <a:srgbClr val="E0F5F3"/>
          </a:solidFill>
          <a:ln/>
        </p:spPr>
      </p:sp>
      <p:sp>
        <p:nvSpPr>
          <p:cNvPr id="9" name="Text 7"/>
          <p:cNvSpPr/>
          <p:nvPr/>
        </p:nvSpPr>
        <p:spPr>
          <a:xfrm>
            <a:off x="502920" y="2697480"/>
            <a:ext cx="3566160" cy="182880"/>
          </a:xfrm>
          <a:prstGeom prst="rect">
            <a:avLst/>
          </a:prstGeom>
          <a:noFill/>
          <a:ln/>
        </p:spPr>
        <p:txBody>
          <a:bodyPr wrap="square" lIns="0" tIns="0" rIns="0" bIns="0" rtlCol="0" anchor="ctr"/>
          <a:lstStyle/>
          <a:p>
            <a:pPr marL="0" indent="0">
              <a:buNone/>
            </a:pPr>
            <a:r>
              <a:rPr lang="en-US" sz="1000" b="1" dirty="0">
                <a:solidFill>
                  <a:srgbClr val="0D7A6F"/>
                </a:solidFill>
              </a:rPr>
              <a:t>AI EXTRACTS</a:t>
            </a:r>
            <a:endParaRPr lang="en-US" sz="1000" dirty="0"/>
          </a:p>
        </p:txBody>
      </p:sp>
      <p:sp>
        <p:nvSpPr>
          <p:cNvPr id="10" name="Text 8"/>
          <p:cNvSpPr/>
          <p:nvPr/>
        </p:nvSpPr>
        <p:spPr>
          <a:xfrm>
            <a:off x="502920" y="2926080"/>
            <a:ext cx="3566160" cy="320040"/>
          </a:xfrm>
          <a:prstGeom prst="rect">
            <a:avLst/>
          </a:prstGeom>
          <a:noFill/>
          <a:ln/>
        </p:spPr>
        <p:txBody>
          <a:bodyPr wrap="square" lIns="0" tIns="0" rIns="0" bIns="0" rtlCol="0" anchor="ctr"/>
          <a:lstStyle/>
          <a:p>
            <a:pPr marL="0" indent="0">
              <a:buNone/>
            </a:pPr>
            <a:r>
              <a:rPr lang="en-US" sz="1100" dirty="0">
                <a:solidFill>
                  <a:srgbClr val="0F2044"/>
                </a:solidFill>
              </a:rPr>
              <a:t>Category: Child Nutrition | Risk: Weight stagnation, Missed immunization</a:t>
            </a:r>
            <a:endParaRPr lang="en-US" sz="1100" dirty="0"/>
          </a:p>
        </p:txBody>
      </p:sp>
      <p:sp>
        <p:nvSpPr>
          <p:cNvPr id="11" name="Text 9"/>
          <p:cNvSpPr/>
          <p:nvPr/>
        </p:nvSpPr>
        <p:spPr>
          <a:xfrm>
            <a:off x="2194560" y="3337560"/>
            <a:ext cx="182880" cy="274320"/>
          </a:xfrm>
          <a:prstGeom prst="rect">
            <a:avLst/>
          </a:prstGeom>
          <a:noFill/>
          <a:ln/>
        </p:spPr>
        <p:txBody>
          <a:bodyPr wrap="square" lIns="0" tIns="0" rIns="0" bIns="0" rtlCol="0" anchor="ctr"/>
          <a:lstStyle/>
          <a:p>
            <a:pPr marL="0" indent="0" algn="ctr">
              <a:buNone/>
            </a:pPr>
            <a:r>
              <a:rPr lang="en-US" sz="2400" b="1" dirty="0">
                <a:solidFill>
                  <a:srgbClr val="0D7A6F"/>
                </a:solidFill>
              </a:rPr>
              <a:t>↓</a:t>
            </a:r>
            <a:endParaRPr lang="en-US" sz="2400" dirty="0"/>
          </a:p>
        </p:txBody>
      </p:sp>
      <p:sp>
        <p:nvSpPr>
          <p:cNvPr id="12" name="Shape 10"/>
          <p:cNvSpPr/>
          <p:nvPr/>
        </p:nvSpPr>
        <p:spPr>
          <a:xfrm>
            <a:off x="365760" y="3657600"/>
            <a:ext cx="3840480" cy="822960"/>
          </a:xfrm>
          <a:prstGeom prst="rect">
            <a:avLst/>
          </a:prstGeom>
          <a:solidFill>
            <a:srgbClr val="0D7A6F"/>
          </a:solidFill>
          <a:ln/>
        </p:spPr>
      </p:sp>
      <p:sp>
        <p:nvSpPr>
          <p:cNvPr id="13" name="Text 11"/>
          <p:cNvSpPr/>
          <p:nvPr/>
        </p:nvSpPr>
        <p:spPr>
          <a:xfrm>
            <a:off x="502920" y="3703320"/>
            <a:ext cx="3566160" cy="182880"/>
          </a:xfrm>
          <a:prstGeom prst="rect">
            <a:avLst/>
          </a:prstGeom>
          <a:noFill/>
          <a:ln/>
        </p:spPr>
        <p:txBody>
          <a:bodyPr wrap="square" lIns="0" tIns="0" rIns="0" bIns="0" rtlCol="0" anchor="ctr"/>
          <a:lstStyle/>
          <a:p>
            <a:pPr marL="0" indent="0">
              <a:buNone/>
            </a:pPr>
            <a:r>
              <a:rPr lang="en-US" sz="1000" b="1" dirty="0">
                <a:solidFill>
                  <a:srgbClr val="FFFFFF"/>
                </a:solidFill>
              </a:rPr>
              <a:t>REPORT GENERATED (English)</a:t>
            </a:r>
            <a:endParaRPr lang="en-US" sz="1000" dirty="0"/>
          </a:p>
        </p:txBody>
      </p:sp>
      <p:sp>
        <p:nvSpPr>
          <p:cNvPr id="14" name="Text 12"/>
          <p:cNvSpPr/>
          <p:nvPr/>
        </p:nvSpPr>
        <p:spPr>
          <a:xfrm>
            <a:off x="502920" y="3931920"/>
            <a:ext cx="3566160" cy="502920"/>
          </a:xfrm>
          <a:prstGeom prst="rect">
            <a:avLst/>
          </a:prstGeom>
          <a:noFill/>
          <a:ln/>
        </p:spPr>
        <p:txBody>
          <a:bodyPr wrap="square" lIns="0" tIns="0" rIns="0" bIns="0" rtlCol="0" anchor="ctr"/>
          <a:lstStyle/>
          <a:p>
            <a:pPr marL="0" indent="0">
              <a:buNone/>
            </a:pPr>
            <a:r>
              <a:rPr lang="en-US" sz="1200" dirty="0">
                <a:solidFill>
                  <a:srgbClr val="FFFFFF"/>
                </a:solidFill>
              </a:rPr>
              <a:t>Triage: CRITICAL | Weight not gaining — 2nd consecutive visit. Immunization missed.</a:t>
            </a:r>
            <a:endParaRPr lang="en-US" sz="1200" dirty="0"/>
          </a:p>
        </p:txBody>
      </p:sp>
      <p:sp>
        <p:nvSpPr>
          <p:cNvPr id="15" name="Text 13"/>
          <p:cNvSpPr/>
          <p:nvPr/>
        </p:nvSpPr>
        <p:spPr>
          <a:xfrm>
            <a:off x="4663440" y="1234440"/>
            <a:ext cx="4114800" cy="320040"/>
          </a:xfrm>
          <a:prstGeom prst="rect">
            <a:avLst/>
          </a:prstGeom>
          <a:noFill/>
          <a:ln/>
        </p:spPr>
        <p:txBody>
          <a:bodyPr wrap="square" lIns="0" tIns="0" rIns="0" bIns="0" rtlCol="0" anchor="ctr"/>
          <a:lstStyle/>
          <a:p>
            <a:pPr marL="0" indent="0">
              <a:buNone/>
            </a:pPr>
            <a:r>
              <a:rPr lang="en-US" sz="1600" b="1" dirty="0">
                <a:solidFill>
                  <a:srgbClr val="0F2044"/>
                </a:solidFill>
              </a:rPr>
              <a:t>10+ Languages Supported</a:t>
            </a:r>
            <a:endParaRPr lang="en-US" sz="1600" dirty="0"/>
          </a:p>
        </p:txBody>
      </p:sp>
      <p:sp>
        <p:nvSpPr>
          <p:cNvPr id="16" name="Shape 14"/>
          <p:cNvSpPr/>
          <p:nvPr/>
        </p:nvSpPr>
        <p:spPr>
          <a:xfrm>
            <a:off x="4663440" y="1691640"/>
            <a:ext cx="1828800" cy="393192"/>
          </a:xfrm>
          <a:prstGeom prst="roundRect">
            <a:avLst/>
          </a:prstGeom>
          <a:solidFill>
            <a:srgbClr val="FFFFFF"/>
          </a:solidFill>
          <a:ln w="12700">
            <a:solidFill>
              <a:srgbClr val="0D7A6F"/>
            </a:solidFill>
            <a:prstDash val="solid"/>
          </a:ln>
        </p:spPr>
      </p:sp>
      <p:sp>
        <p:nvSpPr>
          <p:cNvPr id="17" name="Text 15"/>
          <p:cNvSpPr/>
          <p:nvPr/>
        </p:nvSpPr>
        <p:spPr>
          <a:xfrm>
            <a:off x="4663440" y="1691640"/>
            <a:ext cx="1828800" cy="393192"/>
          </a:xfrm>
          <a:prstGeom prst="rect">
            <a:avLst/>
          </a:prstGeom>
          <a:noFill/>
          <a:ln/>
        </p:spPr>
        <p:txBody>
          <a:bodyPr wrap="square" lIns="0" tIns="0" rIns="0" bIns="0" rtlCol="0" anchor="ctr"/>
          <a:lstStyle/>
          <a:p>
            <a:pPr marL="0" indent="0" algn="ctr">
              <a:buNone/>
            </a:pPr>
            <a:r>
              <a:rPr lang="en-US" sz="1050" b="1" dirty="0">
                <a:solidFill>
                  <a:srgbClr val="0F2044"/>
                </a:solidFill>
              </a:rPr>
              <a:t>हिन्दी Hindi</a:t>
            </a:r>
            <a:endParaRPr lang="en-US" sz="1050" dirty="0"/>
          </a:p>
        </p:txBody>
      </p:sp>
      <p:sp>
        <p:nvSpPr>
          <p:cNvPr id="18" name="Shape 16"/>
          <p:cNvSpPr/>
          <p:nvPr/>
        </p:nvSpPr>
        <p:spPr>
          <a:xfrm>
            <a:off x="6675120" y="1691640"/>
            <a:ext cx="1828800" cy="393192"/>
          </a:xfrm>
          <a:prstGeom prst="roundRect">
            <a:avLst/>
          </a:prstGeom>
          <a:solidFill>
            <a:srgbClr val="FFFFFF"/>
          </a:solidFill>
          <a:ln w="12700">
            <a:solidFill>
              <a:srgbClr val="0D7A6F"/>
            </a:solidFill>
            <a:prstDash val="solid"/>
          </a:ln>
        </p:spPr>
      </p:sp>
      <p:sp>
        <p:nvSpPr>
          <p:cNvPr id="19" name="Text 17"/>
          <p:cNvSpPr/>
          <p:nvPr/>
        </p:nvSpPr>
        <p:spPr>
          <a:xfrm>
            <a:off x="6675120" y="1691640"/>
            <a:ext cx="1828800" cy="393192"/>
          </a:xfrm>
          <a:prstGeom prst="rect">
            <a:avLst/>
          </a:prstGeom>
          <a:noFill/>
          <a:ln/>
        </p:spPr>
        <p:txBody>
          <a:bodyPr wrap="square" lIns="0" tIns="0" rIns="0" bIns="0" rtlCol="0" anchor="ctr"/>
          <a:lstStyle/>
          <a:p>
            <a:pPr marL="0" indent="0" algn="ctr">
              <a:buNone/>
            </a:pPr>
            <a:r>
              <a:rPr lang="en-US" sz="1050" b="1" dirty="0">
                <a:solidFill>
                  <a:srgbClr val="0F2044"/>
                </a:solidFill>
              </a:rPr>
              <a:t>తెలుగు Telugu</a:t>
            </a:r>
            <a:endParaRPr lang="en-US" sz="1050" dirty="0"/>
          </a:p>
        </p:txBody>
      </p:sp>
      <p:sp>
        <p:nvSpPr>
          <p:cNvPr id="20" name="Shape 18"/>
          <p:cNvSpPr/>
          <p:nvPr/>
        </p:nvSpPr>
        <p:spPr>
          <a:xfrm>
            <a:off x="4663440" y="2194560"/>
            <a:ext cx="1828800" cy="393192"/>
          </a:xfrm>
          <a:prstGeom prst="roundRect">
            <a:avLst/>
          </a:prstGeom>
          <a:solidFill>
            <a:srgbClr val="FFFFFF"/>
          </a:solidFill>
          <a:ln w="12700">
            <a:solidFill>
              <a:srgbClr val="0D7A6F"/>
            </a:solidFill>
            <a:prstDash val="solid"/>
          </a:ln>
        </p:spPr>
      </p:sp>
      <p:sp>
        <p:nvSpPr>
          <p:cNvPr id="21" name="Text 19"/>
          <p:cNvSpPr/>
          <p:nvPr/>
        </p:nvSpPr>
        <p:spPr>
          <a:xfrm>
            <a:off x="4663440" y="2194560"/>
            <a:ext cx="1828800" cy="393192"/>
          </a:xfrm>
          <a:prstGeom prst="rect">
            <a:avLst/>
          </a:prstGeom>
          <a:noFill/>
          <a:ln/>
        </p:spPr>
        <p:txBody>
          <a:bodyPr wrap="square" lIns="0" tIns="0" rIns="0" bIns="0" rtlCol="0" anchor="ctr"/>
          <a:lstStyle/>
          <a:p>
            <a:pPr marL="0" indent="0" algn="ctr">
              <a:buNone/>
            </a:pPr>
            <a:r>
              <a:rPr lang="en-US" sz="1050" b="1" dirty="0">
                <a:solidFill>
                  <a:srgbClr val="0F2044"/>
                </a:solidFill>
              </a:rPr>
              <a:t>தமிழ் Tamil</a:t>
            </a:r>
            <a:endParaRPr lang="en-US" sz="1050" dirty="0"/>
          </a:p>
        </p:txBody>
      </p:sp>
      <p:sp>
        <p:nvSpPr>
          <p:cNvPr id="22" name="Shape 20"/>
          <p:cNvSpPr/>
          <p:nvPr/>
        </p:nvSpPr>
        <p:spPr>
          <a:xfrm>
            <a:off x="6675120" y="2194560"/>
            <a:ext cx="1828800" cy="393192"/>
          </a:xfrm>
          <a:prstGeom prst="roundRect">
            <a:avLst/>
          </a:prstGeom>
          <a:solidFill>
            <a:srgbClr val="FFFFFF"/>
          </a:solidFill>
          <a:ln w="12700">
            <a:solidFill>
              <a:srgbClr val="0D7A6F"/>
            </a:solidFill>
            <a:prstDash val="solid"/>
          </a:ln>
        </p:spPr>
      </p:sp>
      <p:sp>
        <p:nvSpPr>
          <p:cNvPr id="23" name="Text 21"/>
          <p:cNvSpPr/>
          <p:nvPr/>
        </p:nvSpPr>
        <p:spPr>
          <a:xfrm>
            <a:off x="6675120" y="2194560"/>
            <a:ext cx="1828800" cy="393192"/>
          </a:xfrm>
          <a:prstGeom prst="rect">
            <a:avLst/>
          </a:prstGeom>
          <a:noFill/>
          <a:ln/>
        </p:spPr>
        <p:txBody>
          <a:bodyPr wrap="square" lIns="0" tIns="0" rIns="0" bIns="0" rtlCol="0" anchor="ctr"/>
          <a:lstStyle/>
          <a:p>
            <a:pPr marL="0" indent="0" algn="ctr">
              <a:buNone/>
            </a:pPr>
            <a:r>
              <a:rPr lang="en-US" sz="1050" b="1" dirty="0">
                <a:solidFill>
                  <a:srgbClr val="0F2044"/>
                </a:solidFill>
              </a:rPr>
              <a:t>ಕನ್ನಡ Kannada</a:t>
            </a:r>
            <a:endParaRPr lang="en-US" sz="1050" dirty="0"/>
          </a:p>
        </p:txBody>
      </p:sp>
      <p:sp>
        <p:nvSpPr>
          <p:cNvPr id="24" name="Shape 22"/>
          <p:cNvSpPr/>
          <p:nvPr/>
        </p:nvSpPr>
        <p:spPr>
          <a:xfrm>
            <a:off x="4663440" y="2697480"/>
            <a:ext cx="1828800" cy="393192"/>
          </a:xfrm>
          <a:prstGeom prst="roundRect">
            <a:avLst/>
          </a:prstGeom>
          <a:solidFill>
            <a:srgbClr val="FFFFFF"/>
          </a:solidFill>
          <a:ln w="12700">
            <a:solidFill>
              <a:srgbClr val="0D7A6F"/>
            </a:solidFill>
            <a:prstDash val="solid"/>
          </a:ln>
        </p:spPr>
      </p:sp>
      <p:sp>
        <p:nvSpPr>
          <p:cNvPr id="25" name="Text 23"/>
          <p:cNvSpPr/>
          <p:nvPr/>
        </p:nvSpPr>
        <p:spPr>
          <a:xfrm>
            <a:off x="4663440" y="2697480"/>
            <a:ext cx="1828800" cy="393192"/>
          </a:xfrm>
          <a:prstGeom prst="rect">
            <a:avLst/>
          </a:prstGeom>
          <a:noFill/>
          <a:ln/>
        </p:spPr>
        <p:txBody>
          <a:bodyPr wrap="square" lIns="0" tIns="0" rIns="0" bIns="0" rtlCol="0" anchor="ctr"/>
          <a:lstStyle/>
          <a:p>
            <a:pPr marL="0" indent="0" algn="ctr">
              <a:buNone/>
            </a:pPr>
            <a:r>
              <a:rPr lang="en-US" sz="1050" b="1" dirty="0">
                <a:solidFill>
                  <a:srgbClr val="0F2044"/>
                </a:solidFill>
              </a:rPr>
              <a:t>മലയാളം Malayalam</a:t>
            </a:r>
            <a:endParaRPr lang="en-US" sz="1050" dirty="0"/>
          </a:p>
        </p:txBody>
      </p:sp>
      <p:sp>
        <p:nvSpPr>
          <p:cNvPr id="26" name="Shape 24"/>
          <p:cNvSpPr/>
          <p:nvPr/>
        </p:nvSpPr>
        <p:spPr>
          <a:xfrm>
            <a:off x="6675120" y="2697480"/>
            <a:ext cx="1828800" cy="393192"/>
          </a:xfrm>
          <a:prstGeom prst="roundRect">
            <a:avLst/>
          </a:prstGeom>
          <a:solidFill>
            <a:srgbClr val="FFFFFF"/>
          </a:solidFill>
          <a:ln w="12700">
            <a:solidFill>
              <a:srgbClr val="0D7A6F"/>
            </a:solidFill>
            <a:prstDash val="solid"/>
          </a:ln>
        </p:spPr>
      </p:sp>
      <p:sp>
        <p:nvSpPr>
          <p:cNvPr id="27" name="Text 25"/>
          <p:cNvSpPr/>
          <p:nvPr/>
        </p:nvSpPr>
        <p:spPr>
          <a:xfrm>
            <a:off x="6675120" y="2697480"/>
            <a:ext cx="1828800" cy="393192"/>
          </a:xfrm>
          <a:prstGeom prst="rect">
            <a:avLst/>
          </a:prstGeom>
          <a:noFill/>
          <a:ln/>
        </p:spPr>
        <p:txBody>
          <a:bodyPr wrap="square" lIns="0" tIns="0" rIns="0" bIns="0" rtlCol="0" anchor="ctr"/>
          <a:lstStyle/>
          <a:p>
            <a:pPr marL="0" indent="0" algn="ctr">
              <a:buNone/>
            </a:pPr>
            <a:r>
              <a:rPr lang="en-US" sz="1050" b="1" dirty="0">
                <a:solidFill>
                  <a:srgbClr val="0F2044"/>
                </a:solidFill>
              </a:rPr>
              <a:t>मराठी Marathi</a:t>
            </a:r>
            <a:endParaRPr lang="en-US" sz="1050" dirty="0"/>
          </a:p>
        </p:txBody>
      </p:sp>
      <p:sp>
        <p:nvSpPr>
          <p:cNvPr id="28" name="Shape 26"/>
          <p:cNvSpPr/>
          <p:nvPr/>
        </p:nvSpPr>
        <p:spPr>
          <a:xfrm>
            <a:off x="4663440" y="3200400"/>
            <a:ext cx="1828800" cy="393192"/>
          </a:xfrm>
          <a:prstGeom prst="roundRect">
            <a:avLst/>
          </a:prstGeom>
          <a:solidFill>
            <a:srgbClr val="FFFFFF"/>
          </a:solidFill>
          <a:ln w="12700">
            <a:solidFill>
              <a:srgbClr val="0D7A6F"/>
            </a:solidFill>
            <a:prstDash val="solid"/>
          </a:ln>
        </p:spPr>
      </p:sp>
      <p:sp>
        <p:nvSpPr>
          <p:cNvPr id="29" name="Text 27"/>
          <p:cNvSpPr/>
          <p:nvPr/>
        </p:nvSpPr>
        <p:spPr>
          <a:xfrm>
            <a:off x="4663440" y="3200400"/>
            <a:ext cx="1828800" cy="393192"/>
          </a:xfrm>
          <a:prstGeom prst="rect">
            <a:avLst/>
          </a:prstGeom>
          <a:noFill/>
          <a:ln/>
        </p:spPr>
        <p:txBody>
          <a:bodyPr wrap="square" lIns="0" tIns="0" rIns="0" bIns="0" rtlCol="0" anchor="ctr"/>
          <a:lstStyle/>
          <a:p>
            <a:pPr marL="0" indent="0" algn="ctr">
              <a:buNone/>
            </a:pPr>
            <a:r>
              <a:rPr lang="en-US" sz="1050" b="1" dirty="0">
                <a:solidFill>
                  <a:srgbClr val="0F2044"/>
                </a:solidFill>
              </a:rPr>
              <a:t>বাংলা Bengali</a:t>
            </a:r>
            <a:endParaRPr lang="en-US" sz="1050" dirty="0"/>
          </a:p>
        </p:txBody>
      </p:sp>
      <p:sp>
        <p:nvSpPr>
          <p:cNvPr id="30" name="Shape 28"/>
          <p:cNvSpPr/>
          <p:nvPr/>
        </p:nvSpPr>
        <p:spPr>
          <a:xfrm>
            <a:off x="6675120" y="3200400"/>
            <a:ext cx="1828800" cy="393192"/>
          </a:xfrm>
          <a:prstGeom prst="roundRect">
            <a:avLst/>
          </a:prstGeom>
          <a:solidFill>
            <a:srgbClr val="FFFFFF"/>
          </a:solidFill>
          <a:ln w="12700">
            <a:solidFill>
              <a:srgbClr val="0D7A6F"/>
            </a:solidFill>
            <a:prstDash val="solid"/>
          </a:ln>
        </p:spPr>
      </p:sp>
      <p:sp>
        <p:nvSpPr>
          <p:cNvPr id="31" name="Text 29"/>
          <p:cNvSpPr/>
          <p:nvPr/>
        </p:nvSpPr>
        <p:spPr>
          <a:xfrm>
            <a:off x="6675120" y="3200400"/>
            <a:ext cx="1828800" cy="393192"/>
          </a:xfrm>
          <a:prstGeom prst="rect">
            <a:avLst/>
          </a:prstGeom>
          <a:noFill/>
          <a:ln/>
        </p:spPr>
        <p:txBody>
          <a:bodyPr wrap="square" lIns="0" tIns="0" rIns="0" bIns="0" rtlCol="0" anchor="ctr"/>
          <a:lstStyle/>
          <a:p>
            <a:pPr marL="0" indent="0" algn="ctr">
              <a:buNone/>
            </a:pPr>
            <a:r>
              <a:rPr lang="en-US" sz="1050" b="1" dirty="0">
                <a:solidFill>
                  <a:srgbClr val="0F2044"/>
                </a:solidFill>
              </a:rPr>
              <a:t>ગુજરાતી Gujarati</a:t>
            </a:r>
            <a:endParaRPr lang="en-US" sz="1050" dirty="0"/>
          </a:p>
        </p:txBody>
      </p:sp>
      <p:sp>
        <p:nvSpPr>
          <p:cNvPr id="32" name="Shape 30"/>
          <p:cNvSpPr/>
          <p:nvPr/>
        </p:nvSpPr>
        <p:spPr>
          <a:xfrm>
            <a:off x="4663440" y="3703320"/>
            <a:ext cx="1828800" cy="393192"/>
          </a:xfrm>
          <a:prstGeom prst="roundRect">
            <a:avLst/>
          </a:prstGeom>
          <a:solidFill>
            <a:srgbClr val="FFFFFF"/>
          </a:solidFill>
          <a:ln w="12700">
            <a:solidFill>
              <a:srgbClr val="0D7A6F"/>
            </a:solidFill>
            <a:prstDash val="solid"/>
          </a:ln>
        </p:spPr>
      </p:sp>
      <p:sp>
        <p:nvSpPr>
          <p:cNvPr id="33" name="Text 31"/>
          <p:cNvSpPr/>
          <p:nvPr/>
        </p:nvSpPr>
        <p:spPr>
          <a:xfrm>
            <a:off x="4663440" y="3703320"/>
            <a:ext cx="1828800" cy="393192"/>
          </a:xfrm>
          <a:prstGeom prst="rect">
            <a:avLst/>
          </a:prstGeom>
          <a:noFill/>
          <a:ln/>
        </p:spPr>
        <p:txBody>
          <a:bodyPr wrap="square" lIns="0" tIns="0" rIns="0" bIns="0" rtlCol="0" anchor="ctr"/>
          <a:lstStyle/>
          <a:p>
            <a:pPr marL="0" indent="0" algn="ctr">
              <a:buNone/>
            </a:pPr>
            <a:r>
              <a:rPr lang="en-US" sz="1050" b="1" dirty="0">
                <a:solidFill>
                  <a:srgbClr val="0F2044"/>
                </a:solidFill>
              </a:rPr>
              <a:t>ਪੰਜਾਬੀ Punjabi</a:t>
            </a:r>
            <a:endParaRPr lang="en-US" sz="1050" dirty="0"/>
          </a:p>
        </p:txBody>
      </p:sp>
      <p:sp>
        <p:nvSpPr>
          <p:cNvPr id="34" name="Shape 32"/>
          <p:cNvSpPr/>
          <p:nvPr/>
        </p:nvSpPr>
        <p:spPr>
          <a:xfrm>
            <a:off x="6675120" y="3703320"/>
            <a:ext cx="1828800" cy="393192"/>
          </a:xfrm>
          <a:prstGeom prst="roundRect">
            <a:avLst/>
          </a:prstGeom>
          <a:solidFill>
            <a:srgbClr val="FFFFFF"/>
          </a:solidFill>
          <a:ln w="12700">
            <a:solidFill>
              <a:srgbClr val="0D7A6F"/>
            </a:solidFill>
            <a:prstDash val="solid"/>
          </a:ln>
        </p:spPr>
      </p:sp>
      <p:sp>
        <p:nvSpPr>
          <p:cNvPr id="35" name="Text 33"/>
          <p:cNvSpPr/>
          <p:nvPr/>
        </p:nvSpPr>
        <p:spPr>
          <a:xfrm>
            <a:off x="6675120" y="3703320"/>
            <a:ext cx="1828800" cy="393192"/>
          </a:xfrm>
          <a:prstGeom prst="rect">
            <a:avLst/>
          </a:prstGeom>
          <a:noFill/>
          <a:ln/>
        </p:spPr>
        <p:txBody>
          <a:bodyPr wrap="square" lIns="0" tIns="0" rIns="0" bIns="0" rtlCol="0" anchor="ctr"/>
          <a:lstStyle/>
          <a:p>
            <a:pPr marL="0" indent="0" algn="ctr">
              <a:buNone/>
            </a:pPr>
            <a:r>
              <a:rPr lang="en-US" sz="1050" b="1" dirty="0">
                <a:solidFill>
                  <a:srgbClr val="0F2044"/>
                </a:solidFill>
              </a:rPr>
              <a:t>English</a:t>
            </a:r>
            <a:endParaRPr lang="en-US" sz="1050" dirty="0"/>
          </a:p>
        </p:txBody>
      </p:sp>
      <p:sp>
        <p:nvSpPr>
          <p:cNvPr id="36" name="Text 34"/>
          <p:cNvSpPr/>
          <p:nvPr/>
        </p:nvSpPr>
        <p:spPr>
          <a:xfrm>
            <a:off x="4663440" y="4251960"/>
            <a:ext cx="3840480" cy="320040"/>
          </a:xfrm>
          <a:prstGeom prst="rect">
            <a:avLst/>
          </a:prstGeom>
          <a:noFill/>
          <a:ln/>
        </p:spPr>
        <p:txBody>
          <a:bodyPr wrap="square" lIns="0" tIns="0" rIns="0" bIns="0" rtlCol="0" anchor="ctr"/>
          <a:lstStyle/>
          <a:p>
            <a:pPr marL="0" indent="0">
              <a:buNone/>
            </a:pPr>
            <a:r>
              <a:rPr lang="en-US" sz="1100" i="1" dirty="0">
                <a:solidFill>
                  <a:srgbClr val="6B7280"/>
                </a:solidFill>
              </a:rPr>
              <a:t>Original transcript preserved in regional language. All reports output in English.</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2044"/>
        </a:solidFill>
        <a:effectLst/>
      </p:bgPr>
    </p:bg>
    <p:spTree>
      <p:nvGrpSpPr>
        <p:cNvPr id="1" name=""/>
        <p:cNvGrpSpPr/>
        <p:nvPr/>
      </p:nvGrpSpPr>
      <p:grpSpPr>
        <a:xfrm>
          <a:off x="0" y="0"/>
          <a:ext cx="0" cy="0"/>
          <a:chOff x="0" y="0"/>
          <a:chExt cx="0" cy="0"/>
        </a:xfrm>
      </p:grpSpPr>
      <p:sp>
        <p:nvSpPr>
          <p:cNvPr id="2" name="Text 0"/>
          <p:cNvSpPr/>
          <p:nvPr/>
        </p:nvSpPr>
        <p:spPr>
          <a:xfrm>
            <a:off x="914400" y="365760"/>
            <a:ext cx="7315200" cy="457200"/>
          </a:xfrm>
          <a:prstGeom prst="rect">
            <a:avLst/>
          </a:prstGeom>
          <a:noFill/>
          <a:ln/>
        </p:spPr>
        <p:txBody>
          <a:bodyPr wrap="square" lIns="0" tIns="0" rIns="0" bIns="0" rtlCol="0" anchor="ctr"/>
          <a:lstStyle/>
          <a:p>
            <a:pPr marL="0" indent="0" algn="ctr">
              <a:buNone/>
            </a:pPr>
            <a:r>
              <a:rPr lang="en-US" sz="3600" b="1" dirty="0">
                <a:solidFill>
                  <a:srgbClr val="FFFFFF"/>
                </a:solidFill>
              </a:rPr>
              <a:t>Live Demo</a:t>
            </a:r>
            <a:endParaRPr lang="en-US" sz="3600" dirty="0"/>
          </a:p>
        </p:txBody>
      </p:sp>
      <p:sp>
        <p:nvSpPr>
          <p:cNvPr id="3" name="Text 1"/>
          <p:cNvSpPr/>
          <p:nvPr/>
        </p:nvSpPr>
        <p:spPr>
          <a:xfrm>
            <a:off x="914400" y="914400"/>
            <a:ext cx="7315200" cy="365760"/>
          </a:xfrm>
          <a:prstGeom prst="rect">
            <a:avLst/>
          </a:prstGeom>
          <a:noFill/>
          <a:ln/>
        </p:spPr>
        <p:txBody>
          <a:bodyPr wrap="square" lIns="0" tIns="0" rIns="0" bIns="0" rtlCol="0" anchor="ctr"/>
          <a:lstStyle/>
          <a:p>
            <a:pPr marL="0" indent="0" algn="ctr">
              <a:buNone/>
            </a:pPr>
            <a:r>
              <a:rPr lang="en-US" sz="1600" dirty="0">
                <a:solidFill>
                  <a:srgbClr val="13B5A6"/>
                </a:solidFill>
              </a:rPr>
              <a:t>Watch a 15-second voice note become a CRITICAL escalation report</a:t>
            </a:r>
            <a:endParaRPr lang="en-US" sz="1600" dirty="0"/>
          </a:p>
        </p:txBody>
      </p:sp>
      <p:sp>
        <p:nvSpPr>
          <p:cNvPr id="4" name="Shape 2"/>
          <p:cNvSpPr/>
          <p:nvPr/>
        </p:nvSpPr>
        <p:spPr>
          <a:xfrm>
            <a:off x="1371600" y="1554480"/>
            <a:ext cx="6400800" cy="1371600"/>
          </a:xfrm>
          <a:prstGeom prst="rect">
            <a:avLst/>
          </a:prstGeom>
          <a:solidFill>
            <a:srgbClr val="1A3461"/>
          </a:solidFill>
          <a:ln w="25400">
            <a:solidFill>
              <a:srgbClr val="0D7A6F"/>
            </a:solidFill>
            <a:prstDash val="solid"/>
          </a:ln>
        </p:spPr>
      </p:sp>
      <p:sp>
        <p:nvSpPr>
          <p:cNvPr id="5" name="Text 3"/>
          <p:cNvSpPr/>
          <p:nvPr/>
        </p:nvSpPr>
        <p:spPr>
          <a:xfrm>
            <a:off x="1371600" y="1691640"/>
            <a:ext cx="6400800" cy="228600"/>
          </a:xfrm>
          <a:prstGeom prst="rect">
            <a:avLst/>
          </a:prstGeom>
          <a:noFill/>
          <a:ln/>
        </p:spPr>
        <p:txBody>
          <a:bodyPr wrap="square" lIns="0" tIns="0" rIns="0" bIns="0" rtlCol="0" anchor="ctr"/>
          <a:lstStyle/>
          <a:p>
            <a:pPr marL="0" indent="0" algn="ctr">
              <a:buNone/>
            </a:pPr>
            <a:r>
              <a:rPr lang="en-US" sz="1200" b="1" dirty="0">
                <a:solidFill>
                  <a:srgbClr val="13B5A6"/>
                </a:solidFill>
              </a:rPr>
              <a:t>SPEAK THIS SENTENCE (Telugu):</a:t>
            </a:r>
            <a:endParaRPr lang="en-US" sz="1200" dirty="0"/>
          </a:p>
        </p:txBody>
      </p:sp>
      <p:sp>
        <p:nvSpPr>
          <p:cNvPr id="6" name="Text 4"/>
          <p:cNvSpPr/>
          <p:nvPr/>
        </p:nvSpPr>
        <p:spPr>
          <a:xfrm>
            <a:off x="1463040" y="1965960"/>
            <a:ext cx="6217920" cy="411480"/>
          </a:xfrm>
          <a:prstGeom prst="rect">
            <a:avLst/>
          </a:prstGeom>
          <a:noFill/>
          <a:ln/>
        </p:spPr>
        <p:txBody>
          <a:bodyPr wrap="square" lIns="0" tIns="0" rIns="0" bIns="0" rtlCol="0" anchor="ctr"/>
          <a:lstStyle/>
          <a:p>
            <a:pPr marL="0" indent="0" algn="ctr">
              <a:buNone/>
            </a:pPr>
            <a:r>
              <a:rPr lang="en-US" sz="1300" b="1" dirty="0">
                <a:solidFill>
                  <a:srgbClr val="FFFFFF"/>
                </a:solidFill>
              </a:rPr>
              <a:t>మీన పిల్లవాడు, రెండవ సారి వచ్చాను, బరువు ఇంకా పెరగలేదు, అమ్మ చెప్పింది చివరి టీకా వేయలేదు అని.</a:t>
            </a:r>
            <a:endParaRPr lang="en-US" sz="1300" dirty="0"/>
          </a:p>
        </p:txBody>
      </p:sp>
      <p:sp>
        <p:nvSpPr>
          <p:cNvPr id="7" name="Text 5"/>
          <p:cNvSpPr/>
          <p:nvPr/>
        </p:nvSpPr>
        <p:spPr>
          <a:xfrm>
            <a:off x="1371600" y="2423160"/>
            <a:ext cx="6400800" cy="320040"/>
          </a:xfrm>
          <a:prstGeom prst="rect">
            <a:avLst/>
          </a:prstGeom>
          <a:noFill/>
          <a:ln/>
        </p:spPr>
        <p:txBody>
          <a:bodyPr wrap="square" lIns="0" tIns="0" rIns="0" bIns="0" rtlCol="0" anchor="ctr"/>
          <a:lstStyle/>
          <a:p>
            <a:pPr marL="0" indent="0" algn="ctr">
              <a:buNone/>
            </a:pPr>
            <a:r>
              <a:rPr lang="en-US" sz="1100" i="1" dirty="0">
                <a:solidFill>
                  <a:srgbClr val="13B5A6"/>
                </a:solidFill>
              </a:rPr>
              <a:t>(Meena's child, 2nd visit, weight not gaining, mother says last vaccine was missed)</a:t>
            </a:r>
            <a:endParaRPr lang="en-US" sz="1100" dirty="0"/>
          </a:p>
        </p:txBody>
      </p:sp>
      <p:sp>
        <p:nvSpPr>
          <p:cNvPr id="8" name="Shape 6"/>
          <p:cNvSpPr/>
          <p:nvPr/>
        </p:nvSpPr>
        <p:spPr>
          <a:xfrm>
            <a:off x="457200" y="3108960"/>
            <a:ext cx="2286000" cy="1371600"/>
          </a:xfrm>
          <a:prstGeom prst="rect">
            <a:avLst/>
          </a:prstGeom>
          <a:solidFill>
            <a:srgbClr val="DC2626"/>
          </a:solidFill>
          <a:ln/>
        </p:spPr>
      </p:sp>
      <p:sp>
        <p:nvSpPr>
          <p:cNvPr id="9" name="Text 7"/>
          <p:cNvSpPr/>
          <p:nvPr/>
        </p:nvSpPr>
        <p:spPr>
          <a:xfrm>
            <a:off x="457200" y="3337560"/>
            <a:ext cx="2286000" cy="457200"/>
          </a:xfrm>
          <a:prstGeom prst="rect">
            <a:avLst/>
          </a:prstGeom>
          <a:noFill/>
          <a:ln/>
        </p:spPr>
        <p:txBody>
          <a:bodyPr wrap="square" lIns="0" tIns="0" rIns="0" bIns="0" rtlCol="0" anchor="ctr"/>
          <a:lstStyle/>
          <a:p>
            <a:pPr marL="0" indent="0" algn="ctr">
              <a:buNone/>
            </a:pPr>
            <a:r>
              <a:rPr lang="en-US" sz="3000" b="1" dirty="0">
                <a:solidFill>
                  <a:srgbClr val="FFFFFF"/>
                </a:solidFill>
              </a:rPr>
              <a:t>CRITICAL</a:t>
            </a:r>
            <a:endParaRPr lang="en-US" sz="3000" dirty="0"/>
          </a:p>
        </p:txBody>
      </p:sp>
      <p:sp>
        <p:nvSpPr>
          <p:cNvPr id="10" name="Text 8"/>
          <p:cNvSpPr/>
          <p:nvPr/>
        </p:nvSpPr>
        <p:spPr>
          <a:xfrm>
            <a:off x="457200" y="3794760"/>
            <a:ext cx="2286000" cy="274320"/>
          </a:xfrm>
          <a:prstGeom prst="rect">
            <a:avLst/>
          </a:prstGeom>
          <a:noFill/>
          <a:ln/>
        </p:spPr>
        <p:txBody>
          <a:bodyPr wrap="square" lIns="0" tIns="0" rIns="0" bIns="0" rtlCol="0" anchor="ctr"/>
          <a:lstStyle/>
          <a:p>
            <a:pPr marL="0" indent="0" algn="ctr">
              <a:buNone/>
            </a:pPr>
            <a:r>
              <a:rPr lang="en-US" sz="1100" dirty="0">
                <a:solidFill>
                  <a:srgbClr val="FFFFFF"/>
                </a:solidFill>
              </a:rPr>
              <a:t>Risk Level</a:t>
            </a:r>
            <a:endParaRPr lang="en-US" sz="1100" dirty="0"/>
          </a:p>
        </p:txBody>
      </p:sp>
      <p:sp>
        <p:nvSpPr>
          <p:cNvPr id="11" name="Shape 9"/>
          <p:cNvSpPr/>
          <p:nvPr/>
        </p:nvSpPr>
        <p:spPr>
          <a:xfrm>
            <a:off x="2743200" y="3108960"/>
            <a:ext cx="5943600" cy="1371600"/>
          </a:xfrm>
          <a:prstGeom prst="rect">
            <a:avLst/>
          </a:prstGeom>
          <a:solidFill>
            <a:srgbClr val="1A3461"/>
          </a:solidFill>
          <a:ln/>
        </p:spPr>
      </p:sp>
      <p:sp>
        <p:nvSpPr>
          <p:cNvPr id="12" name="Text 10"/>
          <p:cNvSpPr/>
          <p:nvPr/>
        </p:nvSpPr>
        <p:spPr>
          <a:xfrm>
            <a:off x="2926080" y="3218688"/>
            <a:ext cx="5577840" cy="274320"/>
          </a:xfrm>
          <a:prstGeom prst="rect">
            <a:avLst/>
          </a:prstGeom>
          <a:noFill/>
          <a:ln/>
        </p:spPr>
        <p:txBody>
          <a:bodyPr wrap="square" lIns="0" tIns="0" rIns="0" bIns="0" rtlCol="0" anchor="ctr"/>
          <a:lstStyle/>
          <a:p>
            <a:pPr marL="0" indent="0">
              <a:buNone/>
            </a:pPr>
            <a:r>
              <a:rPr lang="en-US" sz="1150" dirty="0">
                <a:solidFill>
                  <a:srgbClr val="13B5A6"/>
                </a:solidFill>
              </a:rPr>
              <a:t>✓ Transcript captured in Telugu</a:t>
            </a:r>
            <a:endParaRPr lang="en-US" sz="1150" dirty="0"/>
          </a:p>
        </p:txBody>
      </p:sp>
      <p:sp>
        <p:nvSpPr>
          <p:cNvPr id="13" name="Text 11"/>
          <p:cNvSpPr/>
          <p:nvPr/>
        </p:nvSpPr>
        <p:spPr>
          <a:xfrm>
            <a:off x="2926080" y="3493008"/>
            <a:ext cx="5577840" cy="274320"/>
          </a:xfrm>
          <a:prstGeom prst="rect">
            <a:avLst/>
          </a:prstGeom>
          <a:noFill/>
          <a:ln/>
        </p:spPr>
        <p:txBody>
          <a:bodyPr wrap="square" lIns="0" tIns="0" rIns="0" bIns="0" rtlCol="0" anchor="ctr"/>
          <a:lstStyle/>
          <a:p>
            <a:pPr marL="0" indent="0">
              <a:buNone/>
            </a:pPr>
            <a:r>
              <a:rPr lang="en-US" sz="1150" dirty="0">
                <a:solidFill>
                  <a:srgbClr val="13B5A6"/>
                </a:solidFill>
              </a:rPr>
              <a:t>✓ Structured data extracted</a:t>
            </a:r>
            <a:endParaRPr lang="en-US" sz="1150" dirty="0"/>
          </a:p>
        </p:txBody>
      </p:sp>
      <p:sp>
        <p:nvSpPr>
          <p:cNvPr id="14" name="Text 12"/>
          <p:cNvSpPr/>
          <p:nvPr/>
        </p:nvSpPr>
        <p:spPr>
          <a:xfrm>
            <a:off x="2926080" y="3767328"/>
            <a:ext cx="5577840" cy="274320"/>
          </a:xfrm>
          <a:prstGeom prst="rect">
            <a:avLst/>
          </a:prstGeom>
          <a:noFill/>
          <a:ln/>
        </p:spPr>
        <p:txBody>
          <a:bodyPr wrap="square" lIns="0" tIns="0" rIns="0" bIns="0" rtlCol="0" anchor="ctr"/>
          <a:lstStyle/>
          <a:p>
            <a:pPr marL="0" indent="0">
              <a:buNone/>
            </a:pPr>
            <a:r>
              <a:rPr lang="en-US" sz="1150" dirty="0">
                <a:solidFill>
                  <a:srgbClr val="13B5A6"/>
                </a:solidFill>
              </a:rPr>
              <a:t>✓ Formal English report generated</a:t>
            </a:r>
            <a:endParaRPr lang="en-US" sz="1150" dirty="0"/>
          </a:p>
        </p:txBody>
      </p:sp>
      <p:sp>
        <p:nvSpPr>
          <p:cNvPr id="15" name="Text 13"/>
          <p:cNvSpPr/>
          <p:nvPr/>
        </p:nvSpPr>
        <p:spPr>
          <a:xfrm>
            <a:off x="2926080" y="4041648"/>
            <a:ext cx="5577840" cy="274320"/>
          </a:xfrm>
          <a:prstGeom prst="rect">
            <a:avLst/>
          </a:prstGeom>
          <a:noFill/>
          <a:ln/>
        </p:spPr>
        <p:txBody>
          <a:bodyPr wrap="square" lIns="0" tIns="0" rIns="0" bIns="0" rtlCol="0" anchor="ctr"/>
          <a:lstStyle/>
          <a:p>
            <a:pPr marL="0" indent="0">
              <a:buNone/>
            </a:pPr>
            <a:r>
              <a:rPr lang="en-US" sz="1150" dirty="0">
                <a:solidFill>
                  <a:srgbClr val="13B5A6"/>
                </a:solidFill>
              </a:rPr>
              <a:t>✓ Supervisor escalated in real time</a:t>
            </a:r>
            <a:endParaRPr lang="en-US" sz="1150" dirty="0"/>
          </a:p>
        </p:txBody>
      </p:sp>
      <p:sp>
        <p:nvSpPr>
          <p:cNvPr id="16" name="Text 14"/>
          <p:cNvSpPr/>
          <p:nvPr/>
        </p:nvSpPr>
        <p:spPr>
          <a:xfrm>
            <a:off x="914400" y="4617720"/>
            <a:ext cx="7315200" cy="274320"/>
          </a:xfrm>
          <a:prstGeom prst="rect">
            <a:avLst/>
          </a:prstGeom>
          <a:noFill/>
          <a:ln/>
        </p:spPr>
        <p:txBody>
          <a:bodyPr wrap="square" lIns="0" tIns="0" rIns="0" bIns="0" rtlCol="0" anchor="ctr"/>
          <a:lstStyle/>
          <a:p>
            <a:pPr marL="0" indent="0" algn="ctr">
              <a:buNone/>
            </a:pPr>
            <a:r>
              <a:rPr lang="en-US" sz="1200" b="1" dirty="0">
                <a:solidFill>
                  <a:srgbClr val="E0F5F3"/>
                </a:solidFill>
              </a:rPr>
              <a:t>⚡ Click LIVE DEMO MODE on the login screen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7315200" cy="457200"/>
          </a:xfrm>
          <a:prstGeom prst="rect">
            <a:avLst/>
          </a:prstGeom>
          <a:noFill/>
          <a:ln/>
        </p:spPr>
        <p:txBody>
          <a:bodyPr wrap="square" lIns="0" tIns="0" rIns="0" bIns="0" rtlCol="0" anchor="ctr"/>
          <a:lstStyle/>
          <a:p>
            <a:pPr marL="0" indent="0">
              <a:buNone/>
            </a:pPr>
            <a:r>
              <a:rPr lang="en-US" sz="2800" b="1" dirty="0">
                <a:solidFill>
                  <a:srgbClr val="0F2044"/>
                </a:solidFill>
              </a:rPr>
              <a:t>Why Nothing Else Does This</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74320" y="914400"/>
          <a:ext cx="8595360" cy="3072384"/>
        </p:xfrm>
        <a:graphic>
          <a:graphicData uri="http://schemas.openxmlformats.org/drawingml/2006/table">
            <a:tbl>
              <a:tblPr/>
              <a:tblGrid>
                <a:gridCol w="256032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gridCol w="1508760">
                  <a:extLst>
                    <a:ext uri="{9D8B030D-6E8A-4147-A177-3AD203B41FA5}">
                      <a16:colId xmlns:a16="http://schemas.microsoft.com/office/drawing/2014/main" val="20003"/>
                    </a:ext>
                  </a:extLst>
                </a:gridCol>
                <a:gridCol w="1508760">
                  <a:extLst>
                    <a:ext uri="{9D8B030D-6E8A-4147-A177-3AD203B41FA5}">
                      <a16:colId xmlns:a16="http://schemas.microsoft.com/office/drawing/2014/main" val="20004"/>
                    </a:ext>
                  </a:extLst>
                </a:gridCol>
              </a:tblGrid>
              <a:tr h="384048">
                <a:tc>
                  <a:txBody>
                    <a:bodyPr/>
                    <a:lstStyle/>
                    <a:p>
                      <a:pPr marL="0" indent="0">
                        <a:buNone/>
                      </a:pPr>
                      <a:r>
                        <a:rPr lang="en-US" sz="1150" b="1" dirty="0">
                          <a:solidFill>
                            <a:srgbClr val="FFFFFF"/>
                          </a:solidFill>
                        </a:rPr>
                        <a:t>Feature</a:t>
                      </a:r>
                      <a:endParaRPr lang="en-US" sz="11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2044"/>
                    </a:solidFill>
                  </a:tcPr>
                </a:tc>
                <a:tc>
                  <a:txBody>
                    <a:bodyPr/>
                    <a:lstStyle/>
                    <a:p>
                      <a:pPr marL="0" indent="0" algn="ctr">
                        <a:buNone/>
                      </a:pPr>
                      <a:r>
                        <a:rPr lang="en-US" sz="1150" b="1" dirty="0">
                          <a:solidFill>
                            <a:srgbClr val="FFFFFF"/>
                          </a:solidFill>
                        </a:rPr>
                        <a:t>Poshan Tracker</a:t>
                      </a:r>
                      <a:endParaRPr lang="en-US" sz="11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2044"/>
                    </a:solidFill>
                  </a:tcPr>
                </a:tc>
                <a:tc>
                  <a:txBody>
                    <a:bodyPr/>
                    <a:lstStyle/>
                    <a:p>
                      <a:pPr marL="0" indent="0" algn="ctr">
                        <a:buNone/>
                      </a:pPr>
                      <a:r>
                        <a:rPr lang="en-US" sz="1150" b="1" dirty="0">
                          <a:solidFill>
                            <a:srgbClr val="FFFFFF"/>
                          </a:solidFill>
                        </a:rPr>
                        <a:t>eSanjeevani</a:t>
                      </a:r>
                      <a:endParaRPr lang="en-US" sz="11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2044"/>
                    </a:solidFill>
                  </a:tcPr>
                </a:tc>
                <a:tc>
                  <a:txBody>
                    <a:bodyPr/>
                    <a:lstStyle/>
                    <a:p>
                      <a:pPr marL="0" indent="0" algn="ctr">
                        <a:buNone/>
                      </a:pPr>
                      <a:r>
                        <a:rPr lang="en-US" sz="1150" b="1" dirty="0">
                          <a:solidFill>
                            <a:srgbClr val="FFFFFF"/>
                          </a:solidFill>
                        </a:rPr>
                        <a:t>Existing Apps</a:t>
                      </a:r>
                      <a:endParaRPr lang="en-US" sz="11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2044"/>
                    </a:solidFill>
                  </a:tcPr>
                </a:tc>
                <a:tc>
                  <a:txBody>
                    <a:bodyPr/>
                    <a:lstStyle/>
                    <a:p>
                      <a:pPr marL="0" indent="0" algn="ctr">
                        <a:buNone/>
                      </a:pPr>
                      <a:r>
                        <a:rPr lang="en-US" sz="1150" b="1" dirty="0">
                          <a:solidFill>
                            <a:srgbClr val="FFFFFF"/>
                          </a:solidFill>
                        </a:rPr>
                        <a:t>Sahayak AI</a:t>
                      </a:r>
                      <a:endParaRPr lang="en-US" sz="11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2044"/>
                    </a:solidFill>
                  </a:tcPr>
                </a:tc>
                <a:extLst>
                  <a:ext uri="{0D108BD9-81ED-4DB2-BD59-A6C34878D82A}">
                    <a16:rowId xmlns:a16="http://schemas.microsoft.com/office/drawing/2014/main" val="10000"/>
                  </a:ext>
                </a:extLst>
              </a:tr>
              <a:tr h="384048">
                <a:tc>
                  <a:txBody>
                    <a:bodyPr/>
                    <a:lstStyle/>
                    <a:p>
                      <a:pPr marL="0" indent="0">
                        <a:buNone/>
                      </a:pPr>
                      <a:r>
                        <a:rPr lang="en-US" sz="1050" dirty="0">
                          <a:solidFill>
                            <a:srgbClr val="000000"/>
                          </a:solidFill>
                        </a:rPr>
                        <a:t>Voice input in regional language</a:t>
                      </a:r>
                      <a:endParaRPr lang="en-US" sz="10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4F6F9"/>
                    </a:solidFill>
                  </a:tcPr>
                </a:tc>
                <a:tc>
                  <a:txBody>
                    <a:bodyPr/>
                    <a:lstStyle/>
                    <a:p>
                      <a:pPr marL="0" indent="0" algn="ctr">
                        <a:buNone/>
                      </a:pPr>
                      <a:r>
                        <a:rPr lang="en-US" sz="1300" b="1" dirty="0">
                          <a:solidFill>
                            <a:srgbClr val="DC2626"/>
                          </a:solidFill>
                        </a:rPr>
                        <a:t>✗</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4F6F9"/>
                    </a:solidFill>
                  </a:tcPr>
                </a:tc>
                <a:tc>
                  <a:txBody>
                    <a:bodyPr/>
                    <a:lstStyle/>
                    <a:p>
                      <a:pPr marL="0" indent="0" algn="ctr">
                        <a:buNone/>
                      </a:pPr>
                      <a:r>
                        <a:rPr lang="en-US" sz="1300" b="1" dirty="0">
                          <a:solidFill>
                            <a:srgbClr val="DC2626"/>
                          </a:solidFill>
                        </a:rPr>
                        <a:t>✗</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4F6F9"/>
                    </a:solidFill>
                  </a:tcPr>
                </a:tc>
                <a:tc>
                  <a:txBody>
                    <a:bodyPr/>
                    <a:lstStyle/>
                    <a:p>
                      <a:pPr marL="0" indent="0" algn="ctr">
                        <a:buNone/>
                      </a:pPr>
                      <a:r>
                        <a:rPr lang="en-US" sz="1300" b="1" dirty="0">
                          <a:solidFill>
                            <a:srgbClr val="DC2626"/>
                          </a:solidFill>
                        </a:rPr>
                        <a:t>✗</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4F6F9"/>
                    </a:solidFill>
                  </a:tcPr>
                </a:tc>
                <a:tc>
                  <a:txBody>
                    <a:bodyPr/>
                    <a:lstStyle/>
                    <a:p>
                      <a:pPr marL="0" indent="0" algn="ctr">
                        <a:buNone/>
                      </a:pPr>
                      <a:r>
                        <a:rPr lang="en-US" sz="1100" b="1" dirty="0">
                          <a:solidFill>
                            <a:srgbClr val="0D7A6F"/>
                          </a:solidFill>
                        </a:rPr>
                        <a:t>✓ 10+ lang</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0F5F3"/>
                    </a:solidFill>
                  </a:tcPr>
                </a:tc>
                <a:extLst>
                  <a:ext uri="{0D108BD9-81ED-4DB2-BD59-A6C34878D82A}">
                    <a16:rowId xmlns:a16="http://schemas.microsoft.com/office/drawing/2014/main" val="10001"/>
                  </a:ext>
                </a:extLst>
              </a:tr>
              <a:tr h="384048">
                <a:tc>
                  <a:txBody>
                    <a:bodyPr/>
                    <a:lstStyle/>
                    <a:p>
                      <a:pPr marL="0" indent="0">
                        <a:buNone/>
                      </a:pPr>
                      <a:r>
                        <a:rPr lang="en-US" sz="1050" dirty="0">
                          <a:solidFill>
                            <a:srgbClr val="000000"/>
                          </a:solidFill>
                        </a:rPr>
                        <a:t>Tells worker who to visit first</a:t>
                      </a:r>
                      <a:endParaRPr lang="en-US" sz="10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DC2626"/>
                          </a:solidFill>
                        </a:rPr>
                        <a:t>✗</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DC2626"/>
                          </a:solidFill>
                        </a:rPr>
                        <a:t>✗</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DC2626"/>
                          </a:solidFill>
                        </a:rPr>
                        <a:t>✗</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D7A6F"/>
                          </a:solidFill>
                        </a:rPr>
                        <a:t>✓ Prioritized</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0F5F3"/>
                    </a:solidFill>
                  </a:tcPr>
                </a:tc>
                <a:extLst>
                  <a:ext uri="{0D108BD9-81ED-4DB2-BD59-A6C34878D82A}">
                    <a16:rowId xmlns:a16="http://schemas.microsoft.com/office/drawing/2014/main" val="10002"/>
                  </a:ext>
                </a:extLst>
              </a:tr>
              <a:tr h="384048">
                <a:tc>
                  <a:txBody>
                    <a:bodyPr/>
                    <a:lstStyle/>
                    <a:p>
                      <a:pPr marL="0" indent="0">
                        <a:buNone/>
                      </a:pPr>
                      <a:r>
                        <a:rPr lang="en-US" sz="1050" dirty="0">
                          <a:solidFill>
                            <a:srgbClr val="000000"/>
                          </a:solidFill>
                        </a:rPr>
                        <a:t>Auto-generates English report</a:t>
                      </a:r>
                      <a:endParaRPr lang="en-US" sz="10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4F6F9"/>
                    </a:solidFill>
                  </a:tcPr>
                </a:tc>
                <a:tc>
                  <a:txBody>
                    <a:bodyPr/>
                    <a:lstStyle/>
                    <a:p>
                      <a:pPr marL="0" indent="0" algn="ctr">
                        <a:buNone/>
                      </a:pPr>
                      <a:r>
                        <a:rPr lang="en-US" sz="1300" b="1" dirty="0">
                          <a:solidFill>
                            <a:srgbClr val="DC2626"/>
                          </a:solidFill>
                        </a:rPr>
                        <a:t>✗</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4F6F9"/>
                    </a:solidFill>
                  </a:tcPr>
                </a:tc>
                <a:tc>
                  <a:txBody>
                    <a:bodyPr/>
                    <a:lstStyle/>
                    <a:p>
                      <a:pPr marL="0" indent="0" algn="ctr">
                        <a:buNone/>
                      </a:pPr>
                      <a:r>
                        <a:rPr lang="en-US" sz="1300" b="1" dirty="0">
                          <a:solidFill>
                            <a:srgbClr val="DC2626"/>
                          </a:solidFill>
                        </a:rPr>
                        <a:t>✗</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4F6F9"/>
                    </a:solidFill>
                  </a:tcPr>
                </a:tc>
                <a:tc>
                  <a:txBody>
                    <a:bodyPr/>
                    <a:lstStyle/>
                    <a:p>
                      <a:pPr marL="0" indent="0" algn="ctr">
                        <a:buNone/>
                      </a:pPr>
                      <a:r>
                        <a:rPr lang="en-US" sz="1300" b="1" dirty="0">
                          <a:solidFill>
                            <a:srgbClr val="DC2626"/>
                          </a:solidFill>
                        </a:rPr>
                        <a:t>✗</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4F6F9"/>
                    </a:solidFill>
                  </a:tcPr>
                </a:tc>
                <a:tc>
                  <a:txBody>
                    <a:bodyPr/>
                    <a:lstStyle/>
                    <a:p>
                      <a:pPr marL="0" indent="0" algn="ctr">
                        <a:buNone/>
                      </a:pPr>
                      <a:r>
                        <a:rPr lang="en-US" sz="1100" b="1" dirty="0">
                          <a:solidFill>
                            <a:srgbClr val="0D7A6F"/>
                          </a:solidFill>
                        </a:rPr>
                        <a:t>✓ From Speech</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0F5F3"/>
                    </a:solidFill>
                  </a:tcPr>
                </a:tc>
                <a:extLst>
                  <a:ext uri="{0D108BD9-81ED-4DB2-BD59-A6C34878D82A}">
                    <a16:rowId xmlns:a16="http://schemas.microsoft.com/office/drawing/2014/main" val="10003"/>
                  </a:ext>
                </a:extLst>
              </a:tr>
              <a:tr h="384048">
                <a:tc>
                  <a:txBody>
                    <a:bodyPr/>
                    <a:lstStyle/>
                    <a:p>
                      <a:pPr marL="0" indent="0">
                        <a:buNone/>
                      </a:pPr>
                      <a:r>
                        <a:rPr lang="en-US" sz="1050" dirty="0">
                          <a:solidFill>
                            <a:srgbClr val="000000"/>
                          </a:solidFill>
                        </a:rPr>
                        <a:t>Works fully offline</a:t>
                      </a:r>
                      <a:endParaRPr lang="en-US" sz="10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DC2626"/>
                          </a:solidFill>
                        </a:rPr>
                        <a:t>✗</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DC2626"/>
                          </a:solidFill>
                        </a:rPr>
                        <a:t>✗</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6B7280"/>
                          </a:solidFill>
                        </a:rPr>
                        <a:t>Partial</a:t>
                      </a:r>
                      <a:endParaRPr lang="en-US" sz="10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D7A6F"/>
                          </a:solidFill>
                        </a:rPr>
                        <a:t>✓ Full fallback</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0F5F3"/>
                    </a:solidFill>
                  </a:tcPr>
                </a:tc>
                <a:extLst>
                  <a:ext uri="{0D108BD9-81ED-4DB2-BD59-A6C34878D82A}">
                    <a16:rowId xmlns:a16="http://schemas.microsoft.com/office/drawing/2014/main" val="10004"/>
                  </a:ext>
                </a:extLst>
              </a:tr>
              <a:tr h="384048">
                <a:tc>
                  <a:txBody>
                    <a:bodyPr/>
                    <a:lstStyle/>
                    <a:p>
                      <a:pPr marL="0" indent="0">
                        <a:buNone/>
                      </a:pPr>
                      <a:r>
                        <a:rPr lang="en-US" sz="1050" dirty="0">
                          <a:solidFill>
                            <a:srgbClr val="000000"/>
                          </a:solidFill>
                        </a:rPr>
                        <a:t>Reduces paperwork burden</a:t>
                      </a:r>
                      <a:endParaRPr lang="en-US" sz="10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4F6F9"/>
                    </a:solidFill>
                  </a:tcPr>
                </a:tc>
                <a:tc>
                  <a:txBody>
                    <a:bodyPr/>
                    <a:lstStyle/>
                    <a:p>
                      <a:pPr marL="0" indent="0" algn="ctr">
                        <a:buNone/>
                      </a:pPr>
                      <a:r>
                        <a:rPr lang="en-US" sz="1050" b="1" dirty="0">
                          <a:solidFill>
                            <a:srgbClr val="DC2626"/>
                          </a:solidFill>
                        </a:rPr>
                        <a:t>✗ Adds</a:t>
                      </a:r>
                      <a:endParaRPr lang="en-US" sz="10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4F6F9"/>
                    </a:solidFill>
                  </a:tcPr>
                </a:tc>
                <a:tc>
                  <a:txBody>
                    <a:bodyPr/>
                    <a:lstStyle/>
                    <a:p>
                      <a:pPr marL="0" indent="0" algn="ctr">
                        <a:buNone/>
                      </a:pPr>
                      <a:r>
                        <a:rPr lang="en-US" sz="1050" b="1" dirty="0">
                          <a:solidFill>
                            <a:srgbClr val="DC2626"/>
                          </a:solidFill>
                        </a:rPr>
                        <a:t>✗ Adds</a:t>
                      </a:r>
                      <a:endParaRPr lang="en-US" sz="10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4F6F9"/>
                    </a:solidFill>
                  </a:tcPr>
                </a:tc>
                <a:tc>
                  <a:txBody>
                    <a:bodyPr/>
                    <a:lstStyle/>
                    <a:p>
                      <a:pPr marL="0" indent="0" algn="ctr">
                        <a:buNone/>
                      </a:pPr>
                      <a:r>
                        <a:rPr lang="en-US" sz="1050" b="1" dirty="0">
                          <a:solidFill>
                            <a:srgbClr val="DC2626"/>
                          </a:solidFill>
                        </a:rPr>
                        <a:t>✗ Adds</a:t>
                      </a:r>
                      <a:endParaRPr lang="en-US" sz="10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4F6F9"/>
                    </a:solidFill>
                  </a:tcPr>
                </a:tc>
                <a:tc>
                  <a:txBody>
                    <a:bodyPr/>
                    <a:lstStyle/>
                    <a:p>
                      <a:pPr marL="0" indent="0" algn="ctr">
                        <a:buNone/>
                      </a:pPr>
                      <a:r>
                        <a:rPr lang="en-US" sz="1100" b="1" dirty="0">
                          <a:solidFill>
                            <a:srgbClr val="0D7A6F"/>
                          </a:solidFill>
                        </a:rPr>
                        <a:t>✓ Core Goal</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0F5F3"/>
                    </a:solidFill>
                  </a:tcPr>
                </a:tc>
                <a:extLst>
                  <a:ext uri="{0D108BD9-81ED-4DB2-BD59-A6C34878D82A}">
                    <a16:rowId xmlns:a16="http://schemas.microsoft.com/office/drawing/2014/main" val="10005"/>
                  </a:ext>
                </a:extLst>
              </a:tr>
              <a:tr h="384048">
                <a:tc>
                  <a:txBody>
                    <a:bodyPr/>
                    <a:lstStyle/>
                    <a:p>
                      <a:pPr marL="0" indent="0">
                        <a:buNone/>
                      </a:pPr>
                      <a:r>
                        <a:rPr lang="en-US" sz="1050" dirty="0">
                          <a:solidFill>
                            <a:srgbClr val="000000"/>
                          </a:solidFill>
                        </a:rPr>
                        <a:t>Pattern detection across visits</a:t>
                      </a:r>
                      <a:endParaRPr lang="en-US" sz="10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DC2626"/>
                          </a:solidFill>
                        </a:rPr>
                        <a:t>✗</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DC2626"/>
                          </a:solidFill>
                        </a:rPr>
                        <a:t>✗</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DC2626"/>
                          </a:solidFill>
                        </a:rPr>
                        <a:t>✗</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D7A6F"/>
                          </a:solidFill>
                        </a:rPr>
                        <a:t>✓ Escalates</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0F5F3"/>
                    </a:solidFill>
                  </a:tcPr>
                </a:tc>
                <a:extLst>
                  <a:ext uri="{0D108BD9-81ED-4DB2-BD59-A6C34878D82A}">
                    <a16:rowId xmlns:a16="http://schemas.microsoft.com/office/drawing/2014/main" val="10006"/>
                  </a:ext>
                </a:extLst>
              </a:tr>
              <a:tr h="384048">
                <a:tc>
                  <a:txBody>
                    <a:bodyPr/>
                    <a:lstStyle/>
                    <a:p>
                      <a:pPr marL="0" indent="0">
                        <a:buNone/>
                      </a:pPr>
                      <a:r>
                        <a:rPr lang="en-US" sz="1050" dirty="0">
                          <a:solidFill>
                            <a:srgbClr val="000000"/>
                          </a:solidFill>
                        </a:rPr>
                        <a:t>Explainable AI audit trail</a:t>
                      </a:r>
                      <a:endParaRPr lang="en-US" sz="10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4F6F9"/>
                    </a:solidFill>
                  </a:tcPr>
                </a:tc>
                <a:tc>
                  <a:txBody>
                    <a:bodyPr/>
                    <a:lstStyle/>
                    <a:p>
                      <a:pPr marL="0" indent="0" algn="ctr">
                        <a:buNone/>
                      </a:pPr>
                      <a:r>
                        <a:rPr lang="en-US" sz="1300" b="1" dirty="0">
                          <a:solidFill>
                            <a:srgbClr val="DC2626"/>
                          </a:solidFill>
                        </a:rPr>
                        <a:t>✗</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4F6F9"/>
                    </a:solidFill>
                  </a:tcPr>
                </a:tc>
                <a:tc>
                  <a:txBody>
                    <a:bodyPr/>
                    <a:lstStyle/>
                    <a:p>
                      <a:pPr marL="0" indent="0" algn="ctr">
                        <a:buNone/>
                      </a:pPr>
                      <a:r>
                        <a:rPr lang="en-US" sz="1300" b="1" dirty="0">
                          <a:solidFill>
                            <a:srgbClr val="DC2626"/>
                          </a:solidFill>
                        </a:rPr>
                        <a:t>✗</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4F6F9"/>
                    </a:solidFill>
                  </a:tcPr>
                </a:tc>
                <a:tc>
                  <a:txBody>
                    <a:bodyPr/>
                    <a:lstStyle/>
                    <a:p>
                      <a:pPr marL="0" indent="0" algn="ctr">
                        <a:buNone/>
                      </a:pPr>
                      <a:r>
                        <a:rPr lang="en-US" sz="1300" b="1" dirty="0">
                          <a:solidFill>
                            <a:srgbClr val="DC2626"/>
                          </a:solidFill>
                        </a:rPr>
                        <a:t>✗</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4F6F9"/>
                    </a:solidFill>
                  </a:tcPr>
                </a:tc>
                <a:tc>
                  <a:txBody>
                    <a:bodyPr/>
                    <a:lstStyle/>
                    <a:p>
                      <a:pPr marL="0" indent="0" algn="ctr">
                        <a:buNone/>
                      </a:pPr>
                      <a:r>
                        <a:rPr lang="en-US" sz="1100" b="1" dirty="0">
                          <a:solidFill>
                            <a:srgbClr val="0D7A6F"/>
                          </a:solidFill>
                        </a:rPr>
                        <a:t>✓ Transparent</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0F5F3"/>
                    </a:solidFill>
                  </a:tcPr>
                </a:tc>
                <a:extLst>
                  <a:ext uri="{0D108BD9-81ED-4DB2-BD59-A6C34878D82A}">
                    <a16:rowId xmlns:a16="http://schemas.microsoft.com/office/drawing/2014/main" val="10007"/>
                  </a:ext>
                </a:extLst>
              </a:tr>
            </a:tbl>
          </a:graphicData>
        </a:graphic>
      </p:graphicFrame>
      <p:sp>
        <p:nvSpPr>
          <p:cNvPr id="4" name="Shape 1"/>
          <p:cNvSpPr/>
          <p:nvPr/>
        </p:nvSpPr>
        <p:spPr>
          <a:xfrm>
            <a:off x="274320" y="4389120"/>
            <a:ext cx="8595360" cy="457200"/>
          </a:xfrm>
          <a:prstGeom prst="rect">
            <a:avLst/>
          </a:prstGeom>
          <a:solidFill>
            <a:srgbClr val="0F2044"/>
          </a:solidFill>
          <a:ln/>
        </p:spPr>
      </p:sp>
      <p:sp>
        <p:nvSpPr>
          <p:cNvPr id="5" name="Text 2"/>
          <p:cNvSpPr/>
          <p:nvPr/>
        </p:nvSpPr>
        <p:spPr>
          <a:xfrm>
            <a:off x="274320" y="4389120"/>
            <a:ext cx="8595360" cy="457200"/>
          </a:xfrm>
          <a:prstGeom prst="rect">
            <a:avLst/>
          </a:prstGeom>
          <a:noFill/>
          <a:ln/>
        </p:spPr>
        <p:txBody>
          <a:bodyPr wrap="square" lIns="0" tIns="0" rIns="0" bIns="0" rtlCol="0" anchor="ctr"/>
          <a:lstStyle/>
          <a:p>
            <a:pPr marL="0" indent="0" algn="ctr">
              <a:buNone/>
            </a:pPr>
            <a:r>
              <a:rPr lang="en-US" sz="1350" b="1" dirty="0">
                <a:solidFill>
                  <a:srgbClr val="FFFFFF"/>
                </a:solidFill>
              </a:rPr>
              <a:t>Every competitor adds burden. Sahayak AI is the first to remove it.</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365760" y="274320"/>
            <a:ext cx="7315200" cy="457200"/>
          </a:xfrm>
          <a:prstGeom prst="rect">
            <a:avLst/>
          </a:prstGeom>
          <a:noFill/>
          <a:ln/>
        </p:spPr>
        <p:txBody>
          <a:bodyPr wrap="square" lIns="0" tIns="0" rIns="0" bIns="0" rtlCol="0" anchor="ctr"/>
          <a:lstStyle/>
          <a:p>
            <a:pPr marL="0" indent="0">
              <a:buNone/>
            </a:pPr>
            <a:r>
              <a:rPr lang="en-US" sz="3200" b="1" dirty="0">
                <a:solidFill>
                  <a:srgbClr val="0F2044"/>
                </a:solidFill>
              </a:rPr>
              <a:t>The Impact</a:t>
            </a:r>
            <a:endParaRPr lang="en-US" sz="3200" dirty="0"/>
          </a:p>
        </p:txBody>
      </p:sp>
      <p:sp>
        <p:nvSpPr>
          <p:cNvPr id="3" name="Text 1"/>
          <p:cNvSpPr/>
          <p:nvPr/>
        </p:nvSpPr>
        <p:spPr>
          <a:xfrm>
            <a:off x="365760" y="777240"/>
            <a:ext cx="7315200" cy="365760"/>
          </a:xfrm>
          <a:prstGeom prst="rect">
            <a:avLst/>
          </a:prstGeom>
          <a:noFill/>
          <a:ln/>
        </p:spPr>
        <p:txBody>
          <a:bodyPr wrap="square" lIns="0" tIns="0" rIns="0" bIns="0" rtlCol="0" anchor="ctr"/>
          <a:lstStyle/>
          <a:p>
            <a:pPr marL="0" indent="0">
              <a:buNone/>
            </a:pPr>
            <a:r>
              <a:rPr lang="en-US" sz="1500" dirty="0">
                <a:solidFill>
                  <a:srgbClr val="0D7A6F"/>
                </a:solidFill>
              </a:rPr>
              <a:t>Built for 980,000 workers. Scales to 600 million people.</a:t>
            </a:r>
            <a:endParaRPr lang="en-US" sz="1500" dirty="0"/>
          </a:p>
        </p:txBody>
      </p:sp>
      <p:sp>
        <p:nvSpPr>
          <p:cNvPr id="4" name="Shape 2"/>
          <p:cNvSpPr/>
          <p:nvPr/>
        </p:nvSpPr>
        <p:spPr>
          <a:xfrm>
            <a:off x="365760" y="1280160"/>
            <a:ext cx="2651760" cy="2011680"/>
          </a:xfrm>
          <a:prstGeom prst="rect">
            <a:avLst/>
          </a:prstGeom>
          <a:solidFill>
            <a:srgbClr val="0F2044"/>
          </a:solidFill>
          <a:ln/>
        </p:spPr>
      </p:sp>
      <p:sp>
        <p:nvSpPr>
          <p:cNvPr id="5" name="Text 3"/>
          <p:cNvSpPr/>
          <p:nvPr/>
        </p:nvSpPr>
        <p:spPr>
          <a:xfrm>
            <a:off x="548640" y="1417320"/>
            <a:ext cx="2286000" cy="228600"/>
          </a:xfrm>
          <a:prstGeom prst="rect">
            <a:avLst/>
          </a:prstGeom>
          <a:noFill/>
          <a:ln/>
        </p:spPr>
        <p:txBody>
          <a:bodyPr wrap="square" lIns="0" tIns="0" rIns="0" bIns="0" rtlCol="0" anchor="ctr"/>
          <a:lstStyle/>
          <a:p>
            <a:pPr marL="0" indent="0">
              <a:buNone/>
            </a:pPr>
            <a:r>
              <a:rPr lang="en-US" sz="1100" b="1" dirty="0">
                <a:solidFill>
                  <a:srgbClr val="13B5A6"/>
                </a:solidFill>
              </a:rPr>
              <a:t>⏱ SPEED</a:t>
            </a:r>
            <a:endParaRPr lang="en-US" sz="1100" dirty="0"/>
          </a:p>
        </p:txBody>
      </p:sp>
      <p:sp>
        <p:nvSpPr>
          <p:cNvPr id="6" name="Text 4"/>
          <p:cNvSpPr/>
          <p:nvPr/>
        </p:nvSpPr>
        <p:spPr>
          <a:xfrm>
            <a:off x="548640" y="1645920"/>
            <a:ext cx="2286000" cy="594360"/>
          </a:xfrm>
          <a:prstGeom prst="rect">
            <a:avLst/>
          </a:prstGeom>
          <a:noFill/>
          <a:ln/>
        </p:spPr>
        <p:txBody>
          <a:bodyPr wrap="square" lIns="0" tIns="0" rIns="0" bIns="0" rtlCol="0" anchor="ctr"/>
          <a:lstStyle/>
          <a:p>
            <a:pPr marL="0" indent="0">
              <a:buNone/>
            </a:pPr>
            <a:r>
              <a:rPr lang="en-US" sz="3600" b="1" dirty="0">
                <a:solidFill>
                  <a:srgbClr val="FFFFFF"/>
                </a:solidFill>
              </a:rPr>
              <a:t>10+ min</a:t>
            </a:r>
            <a:endParaRPr lang="en-US" sz="3600" dirty="0"/>
          </a:p>
        </p:txBody>
      </p:sp>
      <p:sp>
        <p:nvSpPr>
          <p:cNvPr id="7" name="Text 5"/>
          <p:cNvSpPr/>
          <p:nvPr/>
        </p:nvSpPr>
        <p:spPr>
          <a:xfrm>
            <a:off x="548640" y="2240280"/>
            <a:ext cx="2286000" cy="457200"/>
          </a:xfrm>
          <a:prstGeom prst="rect">
            <a:avLst/>
          </a:prstGeom>
          <a:noFill/>
          <a:ln/>
        </p:spPr>
        <p:txBody>
          <a:bodyPr wrap="square" lIns="0" tIns="0" rIns="0" bIns="0" rtlCol="0" anchor="ctr"/>
          <a:lstStyle/>
          <a:p>
            <a:pPr marL="0" indent="0">
              <a:buNone/>
            </a:pPr>
            <a:r>
              <a:rPr lang="en-US" sz="1200" dirty="0">
                <a:solidFill>
                  <a:srgbClr val="CCCCCC"/>
                </a:solidFill>
              </a:rPr>
              <a:t>saved per worker per visit</a:t>
            </a:r>
            <a:endParaRPr lang="en-US" sz="1200" dirty="0"/>
          </a:p>
        </p:txBody>
      </p:sp>
      <p:sp>
        <p:nvSpPr>
          <p:cNvPr id="8" name="Text 6"/>
          <p:cNvSpPr/>
          <p:nvPr/>
        </p:nvSpPr>
        <p:spPr>
          <a:xfrm>
            <a:off x="548640" y="2743200"/>
            <a:ext cx="2286000" cy="365760"/>
          </a:xfrm>
          <a:prstGeom prst="rect">
            <a:avLst/>
          </a:prstGeom>
          <a:noFill/>
          <a:ln/>
        </p:spPr>
        <p:txBody>
          <a:bodyPr wrap="square" lIns="0" tIns="0" rIns="0" bIns="0" rtlCol="0" anchor="ctr"/>
          <a:lstStyle/>
          <a:p>
            <a:pPr marL="0" indent="0">
              <a:buNone/>
            </a:pPr>
            <a:r>
              <a:rPr lang="en-US" sz="1100" dirty="0">
                <a:solidFill>
                  <a:srgbClr val="13B5A6"/>
                </a:solidFill>
              </a:rPr>
              <a:t>Eliminated manual English form-filling</a:t>
            </a:r>
            <a:endParaRPr lang="en-US" sz="1100" dirty="0"/>
          </a:p>
        </p:txBody>
      </p:sp>
      <p:sp>
        <p:nvSpPr>
          <p:cNvPr id="9" name="Shape 7"/>
          <p:cNvSpPr/>
          <p:nvPr/>
        </p:nvSpPr>
        <p:spPr>
          <a:xfrm>
            <a:off x="3246120" y="1280160"/>
            <a:ext cx="2651760" cy="2011680"/>
          </a:xfrm>
          <a:prstGeom prst="rect">
            <a:avLst/>
          </a:prstGeom>
          <a:solidFill>
            <a:srgbClr val="0D7A6F"/>
          </a:solidFill>
          <a:ln/>
        </p:spPr>
      </p:sp>
      <p:sp>
        <p:nvSpPr>
          <p:cNvPr id="10" name="Text 8"/>
          <p:cNvSpPr/>
          <p:nvPr/>
        </p:nvSpPr>
        <p:spPr>
          <a:xfrm>
            <a:off x="3429000" y="1417320"/>
            <a:ext cx="2286000" cy="228600"/>
          </a:xfrm>
          <a:prstGeom prst="rect">
            <a:avLst/>
          </a:prstGeom>
          <a:noFill/>
          <a:ln/>
        </p:spPr>
        <p:txBody>
          <a:bodyPr wrap="square" lIns="0" tIns="0" rIns="0" bIns="0" rtlCol="0" anchor="ctr"/>
          <a:lstStyle/>
          <a:p>
            <a:pPr marL="0" indent="0">
              <a:buNone/>
            </a:pPr>
            <a:r>
              <a:rPr lang="en-US" sz="1100" b="1" dirty="0">
                <a:solidFill>
                  <a:srgbClr val="E0F5F3"/>
                </a:solidFill>
              </a:rPr>
              <a:t>⚡ TRANSFORMATION</a:t>
            </a:r>
            <a:endParaRPr lang="en-US" sz="1100" dirty="0"/>
          </a:p>
        </p:txBody>
      </p:sp>
      <p:sp>
        <p:nvSpPr>
          <p:cNvPr id="11" name="Text 9"/>
          <p:cNvSpPr/>
          <p:nvPr/>
        </p:nvSpPr>
        <p:spPr>
          <a:xfrm>
            <a:off x="3429000" y="1645920"/>
            <a:ext cx="2286000" cy="594360"/>
          </a:xfrm>
          <a:prstGeom prst="rect">
            <a:avLst/>
          </a:prstGeom>
          <a:noFill/>
          <a:ln/>
        </p:spPr>
        <p:txBody>
          <a:bodyPr wrap="square" lIns="0" tIns="0" rIns="0" bIns="0" rtlCol="0" anchor="ctr"/>
          <a:lstStyle/>
          <a:p>
            <a:pPr marL="0" indent="0">
              <a:buNone/>
            </a:pPr>
            <a:r>
              <a:rPr lang="en-US" sz="3600" b="1" dirty="0">
                <a:solidFill>
                  <a:srgbClr val="FFFFFF"/>
                </a:solidFill>
              </a:rPr>
              <a:t>&lt;10 sec</a:t>
            </a:r>
            <a:endParaRPr lang="en-US" sz="3600" dirty="0"/>
          </a:p>
        </p:txBody>
      </p:sp>
      <p:sp>
        <p:nvSpPr>
          <p:cNvPr id="12" name="Text 10"/>
          <p:cNvSpPr/>
          <p:nvPr/>
        </p:nvSpPr>
        <p:spPr>
          <a:xfrm>
            <a:off x="3429000" y="2240280"/>
            <a:ext cx="2286000" cy="457200"/>
          </a:xfrm>
          <a:prstGeom prst="rect">
            <a:avLst/>
          </a:prstGeom>
          <a:noFill/>
          <a:ln/>
        </p:spPr>
        <p:txBody>
          <a:bodyPr wrap="square" lIns="0" tIns="0" rIns="0" bIns="0" rtlCol="0" anchor="ctr"/>
          <a:lstStyle/>
          <a:p>
            <a:pPr marL="0" indent="0">
              <a:buNone/>
            </a:pPr>
            <a:r>
              <a:rPr lang="en-US" sz="1200" dirty="0">
                <a:solidFill>
                  <a:srgbClr val="CCCCCC"/>
                </a:solidFill>
              </a:rPr>
              <a:t>voice note to prioritized report</a:t>
            </a:r>
            <a:endParaRPr lang="en-US" sz="1200" dirty="0"/>
          </a:p>
        </p:txBody>
      </p:sp>
      <p:sp>
        <p:nvSpPr>
          <p:cNvPr id="13" name="Text 11"/>
          <p:cNvSpPr/>
          <p:nvPr/>
        </p:nvSpPr>
        <p:spPr>
          <a:xfrm>
            <a:off x="3429000" y="2743200"/>
            <a:ext cx="2286000" cy="365760"/>
          </a:xfrm>
          <a:prstGeom prst="rect">
            <a:avLst/>
          </a:prstGeom>
          <a:noFill/>
          <a:ln/>
        </p:spPr>
        <p:txBody>
          <a:bodyPr wrap="square" lIns="0" tIns="0" rIns="0" bIns="0" rtlCol="0" anchor="ctr"/>
          <a:lstStyle/>
          <a:p>
            <a:pPr marL="0" indent="0">
              <a:buNone/>
            </a:pPr>
            <a:r>
              <a:rPr lang="en-US" sz="1100" dirty="0">
                <a:solidFill>
                  <a:srgbClr val="E0F5F3"/>
                </a:solidFill>
              </a:rPr>
              <a:t>End-to-end pipeline processing</a:t>
            </a:r>
            <a:endParaRPr lang="en-US" sz="1100" dirty="0"/>
          </a:p>
        </p:txBody>
      </p:sp>
      <p:sp>
        <p:nvSpPr>
          <p:cNvPr id="14" name="Shape 12"/>
          <p:cNvSpPr/>
          <p:nvPr/>
        </p:nvSpPr>
        <p:spPr>
          <a:xfrm>
            <a:off x="6126480" y="1280160"/>
            <a:ext cx="2651760" cy="2011680"/>
          </a:xfrm>
          <a:prstGeom prst="rect">
            <a:avLst/>
          </a:prstGeom>
          <a:solidFill>
            <a:srgbClr val="0F2044"/>
          </a:solidFill>
          <a:ln/>
        </p:spPr>
      </p:sp>
      <p:sp>
        <p:nvSpPr>
          <p:cNvPr id="15" name="Text 13"/>
          <p:cNvSpPr/>
          <p:nvPr/>
        </p:nvSpPr>
        <p:spPr>
          <a:xfrm>
            <a:off x="6309360" y="1417320"/>
            <a:ext cx="2286000" cy="228600"/>
          </a:xfrm>
          <a:prstGeom prst="rect">
            <a:avLst/>
          </a:prstGeom>
          <a:noFill/>
          <a:ln/>
        </p:spPr>
        <p:txBody>
          <a:bodyPr wrap="square" lIns="0" tIns="0" rIns="0" bIns="0" rtlCol="0" anchor="ctr"/>
          <a:lstStyle/>
          <a:p>
            <a:pPr marL="0" indent="0">
              <a:buNone/>
            </a:pPr>
            <a:r>
              <a:rPr lang="en-US" sz="1100" b="1" dirty="0">
                <a:solidFill>
                  <a:srgbClr val="13B5A6"/>
                </a:solidFill>
              </a:rPr>
              <a:t>🌐 REACH</a:t>
            </a:r>
            <a:endParaRPr lang="en-US" sz="1100" dirty="0"/>
          </a:p>
        </p:txBody>
      </p:sp>
      <p:sp>
        <p:nvSpPr>
          <p:cNvPr id="16" name="Text 14"/>
          <p:cNvSpPr/>
          <p:nvPr/>
        </p:nvSpPr>
        <p:spPr>
          <a:xfrm>
            <a:off x="6309360" y="1645920"/>
            <a:ext cx="2286000" cy="594360"/>
          </a:xfrm>
          <a:prstGeom prst="rect">
            <a:avLst/>
          </a:prstGeom>
          <a:noFill/>
          <a:ln/>
        </p:spPr>
        <p:txBody>
          <a:bodyPr wrap="square" lIns="0" tIns="0" rIns="0" bIns="0" rtlCol="0" anchor="ctr"/>
          <a:lstStyle/>
          <a:p>
            <a:pPr marL="0" indent="0">
              <a:buNone/>
            </a:pPr>
            <a:r>
              <a:rPr lang="en-US" sz="3600" b="1" dirty="0">
                <a:solidFill>
                  <a:srgbClr val="FFFFFF"/>
                </a:solidFill>
              </a:rPr>
              <a:t>600M+</a:t>
            </a:r>
            <a:endParaRPr lang="en-US" sz="3600" dirty="0"/>
          </a:p>
        </p:txBody>
      </p:sp>
      <p:sp>
        <p:nvSpPr>
          <p:cNvPr id="17" name="Text 15"/>
          <p:cNvSpPr/>
          <p:nvPr/>
        </p:nvSpPr>
        <p:spPr>
          <a:xfrm>
            <a:off x="6309360" y="2240280"/>
            <a:ext cx="2286000" cy="457200"/>
          </a:xfrm>
          <a:prstGeom prst="rect">
            <a:avLst/>
          </a:prstGeom>
          <a:noFill/>
          <a:ln/>
        </p:spPr>
        <p:txBody>
          <a:bodyPr wrap="square" lIns="0" tIns="0" rIns="0" bIns="0" rtlCol="0" anchor="ctr"/>
          <a:lstStyle/>
          <a:p>
            <a:pPr marL="0" indent="0">
              <a:buNone/>
            </a:pPr>
            <a:r>
              <a:rPr lang="en-US" sz="1200" dirty="0">
                <a:solidFill>
                  <a:srgbClr val="CCCCCC"/>
                </a:solidFill>
              </a:rPr>
              <a:t>rural Indians covered by ASHA</a:t>
            </a:r>
            <a:endParaRPr lang="en-US" sz="1200" dirty="0"/>
          </a:p>
        </p:txBody>
      </p:sp>
      <p:sp>
        <p:nvSpPr>
          <p:cNvPr id="18" name="Text 16"/>
          <p:cNvSpPr/>
          <p:nvPr/>
        </p:nvSpPr>
        <p:spPr>
          <a:xfrm>
            <a:off x="6309360" y="2743200"/>
            <a:ext cx="2286000" cy="365760"/>
          </a:xfrm>
          <a:prstGeom prst="rect">
            <a:avLst/>
          </a:prstGeom>
          <a:noFill/>
          <a:ln/>
        </p:spPr>
        <p:txBody>
          <a:bodyPr wrap="square" lIns="0" tIns="0" rIns="0" bIns="0" rtlCol="0" anchor="ctr"/>
          <a:lstStyle/>
          <a:p>
            <a:pPr marL="0" indent="0">
              <a:buNone/>
            </a:pPr>
            <a:r>
              <a:rPr lang="en-US" sz="1100" dirty="0">
                <a:solidFill>
                  <a:srgbClr val="13B5A6"/>
                </a:solidFill>
              </a:rPr>
              <a:t>If every worker uses Sahayak AI</a:t>
            </a:r>
            <a:endParaRPr lang="en-US" sz="1100" dirty="0"/>
          </a:p>
        </p:txBody>
      </p:sp>
      <p:sp>
        <p:nvSpPr>
          <p:cNvPr id="19" name="Shape 17"/>
          <p:cNvSpPr/>
          <p:nvPr/>
        </p:nvSpPr>
        <p:spPr>
          <a:xfrm>
            <a:off x="365760" y="3474720"/>
            <a:ext cx="2560320" cy="1280160"/>
          </a:xfrm>
          <a:prstGeom prst="rect">
            <a:avLst/>
          </a:prstGeom>
          <a:solidFill>
            <a:srgbClr val="E0F5F3"/>
          </a:solidFill>
          <a:ln/>
        </p:spPr>
      </p:sp>
      <p:sp>
        <p:nvSpPr>
          <p:cNvPr id="20" name="Text 18"/>
          <p:cNvSpPr/>
          <p:nvPr/>
        </p:nvSpPr>
        <p:spPr>
          <a:xfrm>
            <a:off x="502920" y="3566160"/>
            <a:ext cx="2286000" cy="228600"/>
          </a:xfrm>
          <a:prstGeom prst="rect">
            <a:avLst/>
          </a:prstGeom>
          <a:noFill/>
          <a:ln/>
        </p:spPr>
        <p:txBody>
          <a:bodyPr wrap="square" lIns="0" tIns="0" rIns="0" bIns="0" rtlCol="0" anchor="ctr"/>
          <a:lstStyle/>
          <a:p>
            <a:pPr marL="0" indent="0">
              <a:buNone/>
            </a:pPr>
            <a:r>
              <a:rPr lang="en-US" sz="1100" b="1" dirty="0">
                <a:solidFill>
                  <a:srgbClr val="0D7A6F"/>
                </a:solidFill>
              </a:rPr>
              <a:t>PHASE 1 — MONTHS 1-3</a:t>
            </a:r>
            <a:endParaRPr lang="en-US" sz="1100" dirty="0"/>
          </a:p>
        </p:txBody>
      </p:sp>
      <p:sp>
        <p:nvSpPr>
          <p:cNvPr id="21" name="Text 19"/>
          <p:cNvSpPr/>
          <p:nvPr/>
        </p:nvSpPr>
        <p:spPr>
          <a:xfrm>
            <a:off x="502920" y="3794760"/>
            <a:ext cx="2286000" cy="320040"/>
          </a:xfrm>
          <a:prstGeom prst="rect">
            <a:avLst/>
          </a:prstGeom>
          <a:noFill/>
          <a:ln/>
        </p:spPr>
        <p:txBody>
          <a:bodyPr wrap="square" lIns="0" tIns="0" rIns="0" bIns="0" rtlCol="0" anchor="ctr"/>
          <a:lstStyle/>
          <a:p>
            <a:pPr marL="0" indent="0">
              <a:buNone/>
            </a:pPr>
            <a:r>
              <a:rPr lang="en-US" sz="1250" b="1" dirty="0">
                <a:solidFill>
                  <a:srgbClr val="0F2044"/>
                </a:solidFill>
              </a:rPr>
              <a:t>50 workers, 1 district pilot</a:t>
            </a:r>
            <a:endParaRPr lang="en-US" sz="1250" dirty="0"/>
          </a:p>
        </p:txBody>
      </p:sp>
      <p:sp>
        <p:nvSpPr>
          <p:cNvPr id="22" name="Text 20"/>
          <p:cNvSpPr/>
          <p:nvPr/>
        </p:nvSpPr>
        <p:spPr>
          <a:xfrm>
            <a:off x="502920" y="4114800"/>
            <a:ext cx="2286000" cy="548640"/>
          </a:xfrm>
          <a:prstGeom prst="rect">
            <a:avLst/>
          </a:prstGeom>
          <a:noFill/>
          <a:ln/>
        </p:spPr>
        <p:txBody>
          <a:bodyPr wrap="square" lIns="0" tIns="0" rIns="0" bIns="0" rtlCol="0" anchor="ctr"/>
          <a:lstStyle/>
          <a:p>
            <a:pPr marL="0" indent="0">
              <a:buNone/>
            </a:pPr>
            <a:r>
              <a:rPr lang="en-US" sz="1050" dirty="0">
                <a:solidFill>
                  <a:srgbClr val="6B7280"/>
                </a:solidFill>
              </a:rPr>
              <a:t>Measure: time saved, cases detected</a:t>
            </a:r>
            <a:endParaRPr lang="en-US" sz="1050" dirty="0"/>
          </a:p>
        </p:txBody>
      </p:sp>
      <p:sp>
        <p:nvSpPr>
          <p:cNvPr id="23" name="Text 21"/>
          <p:cNvSpPr/>
          <p:nvPr/>
        </p:nvSpPr>
        <p:spPr>
          <a:xfrm>
            <a:off x="3035808" y="3931920"/>
            <a:ext cx="137160" cy="365760"/>
          </a:xfrm>
          <a:prstGeom prst="rect">
            <a:avLst/>
          </a:prstGeom>
          <a:noFill/>
          <a:ln/>
        </p:spPr>
        <p:txBody>
          <a:bodyPr wrap="square" rtlCol="0" anchor="ctr"/>
          <a:lstStyle/>
          <a:p>
            <a:pPr marL="0" indent="0">
              <a:buNone/>
            </a:pPr>
            <a:r>
              <a:rPr lang="en-US" sz="1800" b="1" dirty="0">
                <a:solidFill>
                  <a:srgbClr val="0D7A6F"/>
                </a:solidFill>
              </a:rPr>
              <a:t>→</a:t>
            </a:r>
            <a:endParaRPr lang="en-US" sz="1800" dirty="0"/>
          </a:p>
        </p:txBody>
      </p:sp>
      <p:sp>
        <p:nvSpPr>
          <p:cNvPr id="24" name="Shape 22"/>
          <p:cNvSpPr/>
          <p:nvPr/>
        </p:nvSpPr>
        <p:spPr>
          <a:xfrm>
            <a:off x="3246120" y="3474720"/>
            <a:ext cx="2560320" cy="1280160"/>
          </a:xfrm>
          <a:prstGeom prst="rect">
            <a:avLst/>
          </a:prstGeom>
          <a:solidFill>
            <a:srgbClr val="E0F5F3"/>
          </a:solidFill>
          <a:ln/>
        </p:spPr>
      </p:sp>
      <p:sp>
        <p:nvSpPr>
          <p:cNvPr id="25" name="Text 23"/>
          <p:cNvSpPr/>
          <p:nvPr/>
        </p:nvSpPr>
        <p:spPr>
          <a:xfrm>
            <a:off x="3383280" y="3566160"/>
            <a:ext cx="2286000" cy="228600"/>
          </a:xfrm>
          <a:prstGeom prst="rect">
            <a:avLst/>
          </a:prstGeom>
          <a:noFill/>
          <a:ln/>
        </p:spPr>
        <p:txBody>
          <a:bodyPr wrap="square" lIns="0" tIns="0" rIns="0" bIns="0" rtlCol="0" anchor="ctr"/>
          <a:lstStyle/>
          <a:p>
            <a:pPr marL="0" indent="0">
              <a:buNone/>
            </a:pPr>
            <a:r>
              <a:rPr lang="en-US" sz="1100" b="1" dirty="0">
                <a:solidFill>
                  <a:srgbClr val="0D7A6F"/>
                </a:solidFill>
              </a:rPr>
              <a:t>PHASE 2 — MONTHS 4-6</a:t>
            </a:r>
            <a:endParaRPr lang="en-US" sz="1100" dirty="0"/>
          </a:p>
        </p:txBody>
      </p:sp>
      <p:sp>
        <p:nvSpPr>
          <p:cNvPr id="26" name="Text 24"/>
          <p:cNvSpPr/>
          <p:nvPr/>
        </p:nvSpPr>
        <p:spPr>
          <a:xfrm>
            <a:off x="3383280" y="3794760"/>
            <a:ext cx="2286000" cy="320040"/>
          </a:xfrm>
          <a:prstGeom prst="rect">
            <a:avLst/>
          </a:prstGeom>
          <a:noFill/>
          <a:ln/>
        </p:spPr>
        <p:txBody>
          <a:bodyPr wrap="square" lIns="0" tIns="0" rIns="0" bIns="0" rtlCol="0" anchor="ctr"/>
          <a:lstStyle/>
          <a:p>
            <a:pPr marL="0" indent="0">
              <a:buNone/>
            </a:pPr>
            <a:r>
              <a:rPr lang="en-US" sz="1250" b="1" dirty="0">
                <a:solidFill>
                  <a:srgbClr val="0F2044"/>
                </a:solidFill>
              </a:rPr>
              <a:t>ABDM integration, Bhashini</a:t>
            </a:r>
            <a:endParaRPr lang="en-US" sz="1250" dirty="0"/>
          </a:p>
        </p:txBody>
      </p:sp>
      <p:sp>
        <p:nvSpPr>
          <p:cNvPr id="27" name="Text 25"/>
          <p:cNvSpPr/>
          <p:nvPr/>
        </p:nvSpPr>
        <p:spPr>
          <a:xfrm>
            <a:off x="3383280" y="4114800"/>
            <a:ext cx="2286000" cy="548640"/>
          </a:xfrm>
          <a:prstGeom prst="rect">
            <a:avLst/>
          </a:prstGeom>
          <a:noFill/>
          <a:ln/>
        </p:spPr>
        <p:txBody>
          <a:bodyPr wrap="square" lIns="0" tIns="0" rIns="0" bIns="0" rtlCol="0" anchor="ctr"/>
          <a:lstStyle/>
          <a:p>
            <a:pPr marL="0" indent="0">
              <a:buNone/>
            </a:pPr>
            <a:r>
              <a:rPr lang="en-US" sz="1050" dirty="0">
                <a:solidFill>
                  <a:srgbClr val="6B7280"/>
                </a:solidFill>
              </a:rPr>
              <a:t>Expand to 5 districts</a:t>
            </a:r>
            <a:endParaRPr lang="en-US" sz="1050" dirty="0"/>
          </a:p>
        </p:txBody>
      </p:sp>
      <p:sp>
        <p:nvSpPr>
          <p:cNvPr id="28" name="Text 26"/>
          <p:cNvSpPr/>
          <p:nvPr/>
        </p:nvSpPr>
        <p:spPr>
          <a:xfrm>
            <a:off x="5916168" y="3931920"/>
            <a:ext cx="137160" cy="365760"/>
          </a:xfrm>
          <a:prstGeom prst="rect">
            <a:avLst/>
          </a:prstGeom>
          <a:noFill/>
          <a:ln/>
        </p:spPr>
        <p:txBody>
          <a:bodyPr wrap="square" rtlCol="0" anchor="ctr"/>
          <a:lstStyle/>
          <a:p>
            <a:pPr marL="0" indent="0">
              <a:buNone/>
            </a:pPr>
            <a:r>
              <a:rPr lang="en-US" sz="1800" b="1" dirty="0">
                <a:solidFill>
                  <a:srgbClr val="0D7A6F"/>
                </a:solidFill>
              </a:rPr>
              <a:t>→</a:t>
            </a:r>
            <a:endParaRPr lang="en-US" sz="1800" dirty="0"/>
          </a:p>
        </p:txBody>
      </p:sp>
      <p:sp>
        <p:nvSpPr>
          <p:cNvPr id="29" name="Shape 27"/>
          <p:cNvSpPr/>
          <p:nvPr/>
        </p:nvSpPr>
        <p:spPr>
          <a:xfrm>
            <a:off x="6126480" y="3474720"/>
            <a:ext cx="2560320" cy="1280160"/>
          </a:xfrm>
          <a:prstGeom prst="rect">
            <a:avLst/>
          </a:prstGeom>
          <a:solidFill>
            <a:srgbClr val="E0F5F3"/>
          </a:solidFill>
          <a:ln/>
        </p:spPr>
      </p:sp>
      <p:sp>
        <p:nvSpPr>
          <p:cNvPr id="30" name="Text 28"/>
          <p:cNvSpPr/>
          <p:nvPr/>
        </p:nvSpPr>
        <p:spPr>
          <a:xfrm>
            <a:off x="6263640" y="3566160"/>
            <a:ext cx="2286000" cy="228600"/>
          </a:xfrm>
          <a:prstGeom prst="rect">
            <a:avLst/>
          </a:prstGeom>
          <a:noFill/>
          <a:ln/>
        </p:spPr>
        <p:txBody>
          <a:bodyPr wrap="square" lIns="0" tIns="0" rIns="0" bIns="0" rtlCol="0" anchor="ctr"/>
          <a:lstStyle/>
          <a:p>
            <a:pPr marL="0" indent="0">
              <a:buNone/>
            </a:pPr>
            <a:r>
              <a:rPr lang="en-US" sz="1100" b="1" dirty="0">
                <a:solidFill>
                  <a:srgbClr val="0D7A6F"/>
                </a:solidFill>
              </a:rPr>
              <a:t>PHASE 3 — YEAR 2</a:t>
            </a:r>
            <a:endParaRPr lang="en-US" sz="1100" dirty="0"/>
          </a:p>
        </p:txBody>
      </p:sp>
      <p:sp>
        <p:nvSpPr>
          <p:cNvPr id="31" name="Text 29"/>
          <p:cNvSpPr/>
          <p:nvPr/>
        </p:nvSpPr>
        <p:spPr>
          <a:xfrm>
            <a:off x="6263640" y="3794760"/>
            <a:ext cx="2286000" cy="320040"/>
          </a:xfrm>
          <a:prstGeom prst="rect">
            <a:avLst/>
          </a:prstGeom>
          <a:noFill/>
          <a:ln/>
        </p:spPr>
        <p:txBody>
          <a:bodyPr wrap="square" lIns="0" tIns="0" rIns="0" bIns="0" rtlCol="0" anchor="ctr"/>
          <a:lstStyle/>
          <a:p>
            <a:pPr marL="0" indent="0">
              <a:buNone/>
            </a:pPr>
            <a:r>
              <a:rPr lang="en-US" sz="1250" b="1" dirty="0">
                <a:solidFill>
                  <a:srgbClr val="0F2044"/>
                </a:solidFill>
              </a:rPr>
              <a:t>State NHM rollout + licenses</a:t>
            </a:r>
            <a:endParaRPr lang="en-US" sz="1250" dirty="0"/>
          </a:p>
        </p:txBody>
      </p:sp>
      <p:sp>
        <p:nvSpPr>
          <p:cNvPr id="32" name="Text 30"/>
          <p:cNvSpPr/>
          <p:nvPr/>
        </p:nvSpPr>
        <p:spPr>
          <a:xfrm>
            <a:off x="6263640" y="4114800"/>
            <a:ext cx="2286000" cy="548640"/>
          </a:xfrm>
          <a:prstGeom prst="rect">
            <a:avLst/>
          </a:prstGeom>
          <a:noFill/>
          <a:ln/>
        </p:spPr>
        <p:txBody>
          <a:bodyPr wrap="square" lIns="0" tIns="0" rIns="0" bIns="0" rtlCol="0" anchor="ctr"/>
          <a:lstStyle/>
          <a:p>
            <a:pPr marL="0" indent="0">
              <a:buNone/>
            </a:pPr>
            <a:r>
              <a:rPr lang="en-US" sz="1050" dirty="0">
                <a:solidFill>
                  <a:srgbClr val="6B7280"/>
                </a:solidFill>
              </a:rPr>
              <a:t>Revenue: govt per-worker license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044"/>
        </a:solidFill>
        <a:effectLst/>
      </p:bgPr>
    </p:bg>
    <p:spTree>
      <p:nvGrpSpPr>
        <p:cNvPr id="1" name=""/>
        <p:cNvGrpSpPr/>
        <p:nvPr/>
      </p:nvGrpSpPr>
      <p:grpSpPr>
        <a:xfrm>
          <a:off x="0" y="0"/>
          <a:ext cx="0" cy="0"/>
          <a:chOff x="0" y="0"/>
          <a:chExt cx="0" cy="0"/>
        </a:xfrm>
      </p:grpSpPr>
      <p:sp>
        <p:nvSpPr>
          <p:cNvPr id="2" name="Text 0"/>
          <p:cNvSpPr/>
          <p:nvPr/>
        </p:nvSpPr>
        <p:spPr>
          <a:xfrm>
            <a:off x="914400" y="914400"/>
            <a:ext cx="7315200" cy="548640"/>
          </a:xfrm>
          <a:prstGeom prst="rect">
            <a:avLst/>
          </a:prstGeom>
          <a:noFill/>
          <a:ln/>
        </p:spPr>
        <p:txBody>
          <a:bodyPr wrap="square" lIns="0" tIns="0" rIns="0" bIns="0" rtlCol="0" anchor="ctr"/>
          <a:lstStyle/>
          <a:p>
            <a:pPr marL="0" indent="0" algn="ctr">
              <a:buNone/>
            </a:pPr>
            <a:r>
              <a:rPr lang="en-US" sz="3600" b="1" dirty="0">
                <a:solidFill>
                  <a:srgbClr val="FFFFFF"/>
                </a:solidFill>
              </a:rPr>
              <a:t>980,000 workers.</a:t>
            </a:r>
            <a:endParaRPr lang="en-US" sz="3600" dirty="0"/>
          </a:p>
        </p:txBody>
      </p:sp>
      <p:sp>
        <p:nvSpPr>
          <p:cNvPr id="3" name="Text 1"/>
          <p:cNvSpPr/>
          <p:nvPr/>
        </p:nvSpPr>
        <p:spPr>
          <a:xfrm>
            <a:off x="914400" y="1463040"/>
            <a:ext cx="7315200" cy="457200"/>
          </a:xfrm>
          <a:prstGeom prst="rect">
            <a:avLst/>
          </a:prstGeom>
          <a:noFill/>
          <a:ln/>
        </p:spPr>
        <p:txBody>
          <a:bodyPr wrap="square" lIns="0" tIns="0" rIns="0" bIns="0" rtlCol="0" anchor="ctr"/>
          <a:lstStyle/>
          <a:p>
            <a:pPr marL="0" indent="0" algn="ctr">
              <a:buNone/>
            </a:pPr>
            <a:r>
              <a:rPr lang="en-US" sz="2200" dirty="0">
                <a:solidFill>
                  <a:srgbClr val="13B5A6"/>
                </a:solidFill>
              </a:rPr>
              <a:t>Zero tools that tell them who needs help first.</a:t>
            </a:r>
            <a:endParaRPr lang="en-US" sz="2200" dirty="0"/>
          </a:p>
        </p:txBody>
      </p:sp>
      <p:sp>
        <p:nvSpPr>
          <p:cNvPr id="4" name="Shape 2"/>
          <p:cNvSpPr/>
          <p:nvPr/>
        </p:nvSpPr>
        <p:spPr>
          <a:xfrm>
            <a:off x="3200400" y="2103120"/>
            <a:ext cx="2743200" cy="18288"/>
          </a:xfrm>
          <a:prstGeom prst="rect">
            <a:avLst/>
          </a:prstGeom>
          <a:solidFill>
            <a:srgbClr val="0D7A6F"/>
          </a:solidFill>
          <a:ln/>
        </p:spPr>
      </p:sp>
      <p:sp>
        <p:nvSpPr>
          <p:cNvPr id="5" name="Text 3"/>
          <p:cNvSpPr/>
          <p:nvPr/>
        </p:nvSpPr>
        <p:spPr>
          <a:xfrm>
            <a:off x="914400" y="2331720"/>
            <a:ext cx="7315200" cy="731520"/>
          </a:xfrm>
          <a:prstGeom prst="rect">
            <a:avLst/>
          </a:prstGeom>
          <a:noFill/>
          <a:ln/>
        </p:spPr>
        <p:txBody>
          <a:bodyPr wrap="square" lIns="0" tIns="0" rIns="0" bIns="0" rtlCol="0" anchor="ctr"/>
          <a:lstStyle/>
          <a:p>
            <a:pPr marL="0" indent="0" algn="ctr">
              <a:buNone/>
            </a:pPr>
            <a:r>
              <a:rPr lang="en-US" sz="4200" b="1" dirty="0">
                <a:solidFill>
                  <a:srgbClr val="FFFFFF"/>
                </a:solidFill>
              </a:rPr>
              <a:t>Until now.</a:t>
            </a:r>
            <a:endParaRPr lang="en-US" sz="4200" dirty="0"/>
          </a:p>
        </p:txBody>
      </p:sp>
      <p:sp>
        <p:nvSpPr>
          <p:cNvPr id="6" name="Shape 4"/>
          <p:cNvSpPr/>
          <p:nvPr/>
        </p:nvSpPr>
        <p:spPr>
          <a:xfrm>
            <a:off x="914400" y="3291840"/>
            <a:ext cx="2286000" cy="685800"/>
          </a:xfrm>
          <a:prstGeom prst="roundRect">
            <a:avLst/>
          </a:prstGeom>
          <a:solidFill>
            <a:srgbClr val="1A3461"/>
          </a:solidFill>
          <a:ln/>
        </p:spPr>
      </p:sp>
      <p:sp>
        <p:nvSpPr>
          <p:cNvPr id="7" name="Text 5"/>
          <p:cNvSpPr/>
          <p:nvPr/>
        </p:nvSpPr>
        <p:spPr>
          <a:xfrm>
            <a:off x="914400" y="3383280"/>
            <a:ext cx="2286000" cy="228600"/>
          </a:xfrm>
          <a:prstGeom prst="rect">
            <a:avLst/>
          </a:prstGeom>
          <a:noFill/>
          <a:ln/>
        </p:spPr>
        <p:txBody>
          <a:bodyPr wrap="square" lIns="0" tIns="0" rIns="0" bIns="0" rtlCol="0" anchor="ctr"/>
          <a:lstStyle/>
          <a:p>
            <a:pPr marL="0" indent="0" algn="ctr">
              <a:buNone/>
            </a:pPr>
            <a:r>
              <a:rPr lang="en-US" sz="1200" b="1" dirty="0">
                <a:solidFill>
                  <a:srgbClr val="13B5A6"/>
                </a:solidFill>
              </a:rPr>
              <a:t>🌐 Live Demo</a:t>
            </a:r>
            <a:endParaRPr lang="en-US" sz="1200" dirty="0"/>
          </a:p>
        </p:txBody>
      </p:sp>
      <p:sp>
        <p:nvSpPr>
          <p:cNvPr id="8" name="Text 6"/>
          <p:cNvSpPr/>
          <p:nvPr/>
        </p:nvSpPr>
        <p:spPr>
          <a:xfrm>
            <a:off x="914400" y="3639312"/>
            <a:ext cx="2286000" cy="228600"/>
          </a:xfrm>
          <a:prstGeom prst="rect">
            <a:avLst/>
          </a:prstGeom>
          <a:noFill/>
          <a:ln/>
        </p:spPr>
        <p:txBody>
          <a:bodyPr wrap="square" lIns="0" tIns="0" rIns="0" bIns="0" rtlCol="0" anchor="ctr"/>
          <a:lstStyle/>
          <a:p>
            <a:pPr marL="0" indent="0" algn="ctr">
              <a:buNone/>
            </a:pPr>
            <a:r>
              <a:rPr lang="en-US" sz="950" dirty="0">
                <a:solidFill>
                  <a:srgbClr val="FFFFFF"/>
                </a:solidFill>
              </a:rPr>
              <a:t>https://sahayak-portal-nhm.vercel.app/</a:t>
            </a:r>
            <a:endParaRPr lang="en-US" sz="950" dirty="0"/>
          </a:p>
        </p:txBody>
      </p:sp>
      <p:sp>
        <p:nvSpPr>
          <p:cNvPr id="9" name="Shape 7"/>
          <p:cNvSpPr/>
          <p:nvPr/>
        </p:nvSpPr>
        <p:spPr>
          <a:xfrm>
            <a:off x="3429000" y="3291840"/>
            <a:ext cx="2286000" cy="685800"/>
          </a:xfrm>
          <a:prstGeom prst="roundRect">
            <a:avLst/>
          </a:prstGeom>
          <a:solidFill>
            <a:srgbClr val="1A3461"/>
          </a:solidFill>
          <a:ln/>
        </p:spPr>
      </p:sp>
      <p:sp>
        <p:nvSpPr>
          <p:cNvPr id="10" name="Text 8"/>
          <p:cNvSpPr/>
          <p:nvPr/>
        </p:nvSpPr>
        <p:spPr>
          <a:xfrm>
            <a:off x="3429000" y="3383280"/>
            <a:ext cx="2286000" cy="228600"/>
          </a:xfrm>
          <a:prstGeom prst="rect">
            <a:avLst/>
          </a:prstGeom>
          <a:noFill/>
          <a:ln/>
        </p:spPr>
        <p:txBody>
          <a:bodyPr wrap="square" lIns="0" tIns="0" rIns="0" bIns="0" rtlCol="0" anchor="ctr"/>
          <a:lstStyle/>
          <a:p>
            <a:pPr marL="0" indent="0" algn="ctr">
              <a:buNone/>
            </a:pPr>
            <a:r>
              <a:rPr lang="en-US" sz="1200" b="1" dirty="0">
                <a:solidFill>
                  <a:srgbClr val="13B5A6"/>
                </a:solidFill>
              </a:rPr>
              <a:t>👤 Login</a:t>
            </a:r>
            <a:endParaRPr lang="en-US" sz="1200" dirty="0"/>
          </a:p>
        </p:txBody>
      </p:sp>
      <p:sp>
        <p:nvSpPr>
          <p:cNvPr id="11" name="Text 9"/>
          <p:cNvSpPr/>
          <p:nvPr/>
        </p:nvSpPr>
        <p:spPr>
          <a:xfrm>
            <a:off x="3429000" y="3639312"/>
            <a:ext cx="2286000" cy="228600"/>
          </a:xfrm>
          <a:prstGeom prst="rect">
            <a:avLst/>
          </a:prstGeom>
          <a:noFill/>
          <a:ln/>
        </p:spPr>
        <p:txBody>
          <a:bodyPr wrap="square" lIns="0" tIns="0" rIns="0" bIns="0" rtlCol="0" anchor="ctr"/>
          <a:lstStyle/>
          <a:p>
            <a:pPr marL="0" indent="0" algn="ctr">
              <a:buNone/>
            </a:pPr>
            <a:r>
              <a:rPr lang="en-US" sz="950" dirty="0">
                <a:solidFill>
                  <a:srgbClr val="FFFFFF"/>
                </a:solidFill>
              </a:rPr>
              <a:t>rani.worker@sahayak.ai</a:t>
            </a:r>
            <a:endParaRPr lang="en-US" sz="950" dirty="0"/>
          </a:p>
        </p:txBody>
      </p:sp>
      <p:sp>
        <p:nvSpPr>
          <p:cNvPr id="12" name="Shape 10"/>
          <p:cNvSpPr/>
          <p:nvPr/>
        </p:nvSpPr>
        <p:spPr>
          <a:xfrm>
            <a:off x="5943600" y="3291840"/>
            <a:ext cx="2286000" cy="685800"/>
          </a:xfrm>
          <a:prstGeom prst="roundRect">
            <a:avLst/>
          </a:prstGeom>
          <a:solidFill>
            <a:srgbClr val="1A3461"/>
          </a:solidFill>
          <a:ln/>
        </p:spPr>
      </p:sp>
      <p:sp>
        <p:nvSpPr>
          <p:cNvPr id="13" name="Text 11"/>
          <p:cNvSpPr/>
          <p:nvPr/>
        </p:nvSpPr>
        <p:spPr>
          <a:xfrm>
            <a:off x="5943600" y="3383280"/>
            <a:ext cx="2286000" cy="228600"/>
          </a:xfrm>
          <a:prstGeom prst="rect">
            <a:avLst/>
          </a:prstGeom>
          <a:noFill/>
          <a:ln/>
        </p:spPr>
        <p:txBody>
          <a:bodyPr wrap="square" lIns="0" tIns="0" rIns="0" bIns="0" rtlCol="0" anchor="ctr"/>
          <a:lstStyle/>
          <a:p>
            <a:pPr marL="0" indent="0" algn="ctr">
              <a:buNone/>
            </a:pPr>
            <a:r>
              <a:rPr lang="en-US" sz="1200" b="1" dirty="0">
                <a:solidFill>
                  <a:srgbClr val="13B5A6"/>
                </a:solidFill>
              </a:rPr>
              <a:t>🔑 Password</a:t>
            </a:r>
            <a:endParaRPr lang="en-US" sz="1200" dirty="0"/>
          </a:p>
        </p:txBody>
      </p:sp>
      <p:sp>
        <p:nvSpPr>
          <p:cNvPr id="14" name="Text 12"/>
          <p:cNvSpPr/>
          <p:nvPr/>
        </p:nvSpPr>
        <p:spPr>
          <a:xfrm>
            <a:off x="5943600" y="3639312"/>
            <a:ext cx="2286000" cy="228600"/>
          </a:xfrm>
          <a:prstGeom prst="rect">
            <a:avLst/>
          </a:prstGeom>
          <a:noFill/>
          <a:ln/>
        </p:spPr>
        <p:txBody>
          <a:bodyPr wrap="square" lIns="0" tIns="0" rIns="0" bIns="0" rtlCol="0" anchor="ctr"/>
          <a:lstStyle/>
          <a:p>
            <a:pPr marL="0" indent="0" algn="ctr">
              <a:buNone/>
            </a:pPr>
            <a:r>
              <a:rPr lang="en-US" sz="950" dirty="0">
                <a:solidFill>
                  <a:srgbClr val="FFFFFF"/>
                </a:solidFill>
              </a:rPr>
              <a:t>Password@123</a:t>
            </a:r>
            <a:endParaRPr lang="en-US" sz="950" dirty="0"/>
          </a:p>
        </p:txBody>
      </p:sp>
      <p:sp>
        <p:nvSpPr>
          <p:cNvPr id="15" name="Text 13"/>
          <p:cNvSpPr/>
          <p:nvPr/>
        </p:nvSpPr>
        <p:spPr>
          <a:xfrm>
            <a:off x="914400" y="4389120"/>
            <a:ext cx="7315200" cy="320040"/>
          </a:xfrm>
          <a:prstGeom prst="rect">
            <a:avLst/>
          </a:prstGeom>
          <a:noFill/>
          <a:ln/>
        </p:spPr>
        <p:txBody>
          <a:bodyPr wrap="square" lIns="0" tIns="0" rIns="0" bIns="0" rtlCol="0" anchor="ctr"/>
          <a:lstStyle/>
          <a:p>
            <a:pPr marL="0" indent="0" algn="ctr">
              <a:buNone/>
            </a:pPr>
            <a:r>
              <a:rPr lang="en-US" sz="1300" dirty="0">
                <a:solidFill>
                  <a:srgbClr val="0D7A6F"/>
                </a:solidFill>
              </a:rPr>
              <a:t>Sahayak AI — NxtWave Hackathon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TotalTime>
  <Words>1495</Words>
  <Application>Microsoft Office PowerPoint</Application>
  <PresentationFormat>On-screen Show (16:9)</PresentationFormat>
  <Paragraphs>222</Paragraphs>
  <Slides>10</Slides>
  <Notes>10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10</vt:i4>
      </vt:variant>
    </vt:vector>
  </HeadingPairs>
  <TitlesOfParts>
    <vt:vector size="12"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Sai Rohith</cp:lastModifiedBy>
  <cp:revision>3</cp:revision>
  <dcterms:created xsi:type="dcterms:W3CDTF">2026-08-02T05:07:35Z</dcterms:created>
  <dcterms:modified xsi:type="dcterms:W3CDTF">2026-08-02T06:39:23Z</dcterms:modified>
</cp:coreProperties>
</file>